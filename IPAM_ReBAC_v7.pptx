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開場：這不是一個已經決定要做的專案，是去聽了 DevOps Day 2026 的 ReBAC/OpenFGA workshop 之後，回頭反思我們 IPAM 系統的一次分享。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五個部分：先看IPAM現況，再介紹OpenFGA怎麼運作，接著看套用在IPAM上可能改善什麼，示範DSL怎麼寫，最後誠實談還沒有答案的問題。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認證只回答這個人是誰。授權分兩層：Layer1 API入口控制是 scope-based，Layer2 資源列表過濾是 group-based row-level security，另外還有 admin bypass 略過檢查。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轉場：聽完 DevOps Day，如果把這套概念套進 IPAM，會怎樣？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三個概念：tuple 存關係，model 定義 relation 怎麼組合，check() 一次查詢就得到 true/false。用 IPAM 相關的例子示範。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改一條Model規則,會不會把不該開的權限開放出去？OpenFGA CLI 有model test指令,概念跟單元測試很像:定義測試案例驗證Model行為。例如:Alice是ISED-01 member,ISED-01管理Subnet A,預期Check(Alice, writer, Subnet A)→true;Bob不屬於ISED-01,預期Check(Bob, writer, Subnet A)→false。也可以測ListUsers(Subnet A, writer)→Alice,驗證writer名單是否符合預期。如果有人改了Model不小心放寬了權限,這些測試就有機會直接抓出來。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核心觀察：OpenFGA 值得研究的方向，是解決 IPAM 授權的 SQL 複雜度與擴展性問題，尤其是 permissionSQLProvider 的 27 個 SQL 片段跟 GroupRepository 職責這兩個痛點。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如果這8條授權路徑都能用OpenFGA的Relationship Model表達，就可以把「誰跟誰有什麼關係」集中定義在Model裡。之後Application不需要自己知道這個權限是從Group、Subnet還是Section哪一條路徑來的，只要問OpenFGA一個問題：Alice可以讀這個IP嗎？Check(user:alice, can_read, ip_address:10.0.0.5)，OpenFGA負責根據Model推導，回傳可以或不可以。所以真正想研究的不只是把SQL換成API，而是能不能把原本散落在SQL裡的授權邏輯，集中成一套Relationship Model。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口頭補充反向查詢：現在不是查不到，而是要自己把不同授權路徑全部串起來。當授權路徑越來越多，SQL就會越來越複雜，也容易漏掉某一條路徑。更重要的是，稽核常常還會問「這個人為什麼有權限？」這時候就得再回頭分析整條授權鏈。口頭補充授權粒度：例如今天只想授權Alice一個人，我們可能就得建立一個只有Alice的Group。這個Group並不是因為組織需要，而是為了滿足授權需求——我們是用Group去模擬單人授權，而不是模型本身就支援單人授權。ListUsers回答哪些subject符合這個relation，不直接回傳授權路徑，若要分析來源可搭配關係查詢/trace機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600+行知識庫其實是四份分工清楚的md檔案：authorization-model.md講model設計/DSL語法、relationship-patterns.md講複雜關係設計模式、zanzibar-core.md講Zanzibar論文核心概念、validation-suite.md講怎麼測試model。實際請它review一個model時，它會給出具體診斷，例如：沒有can_*權限relation——直接檢查editor/viewer這種原始角色，會讓程式碼跟角色結構綁死，它引用知識庫規則『一定要在model裡定義權限』；也會抓出沒有測試、角色設計不完整等問題，並直接動手改寫model，加上can_view/can_edit/can_delete這類語意化權限定義。這個具體案例可以口頭補充，讓『review model是否符合最佳實踐』這句話有畫面，不用放進投影片正文。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收斂全場主線：ReBAC提供另一種表達授權關係的方式，跟目前group-based設計是不同思路。謝謝大家，Q&amp;A。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3F2F2"/>
          </a:solidFill>
          <a:ln/>
        </p:spPr>
      </p:sp>
      <p:sp>
        <p:nvSpPr>
          <p:cNvPr id="3" name="Shape 1"/>
          <p:cNvSpPr/>
          <p:nvPr/>
        </p:nvSpPr>
        <p:spPr>
          <a:xfrm>
            <a:off x="1047750" y="952500"/>
            <a:ext cx="1111250" cy="232172"/>
          </a:xfrm>
          <a:prstGeom prst="rect">
            <a:avLst/>
          </a:prstGeom>
          <a:solidFill>
            <a:srgbClr val="FFF2EF"/>
          </a:solidFill>
          <a:ln/>
        </p:spPr>
      </p:sp>
      <p:sp>
        <p:nvSpPr>
          <p:cNvPr id="4" name="Text 2"/>
          <p:cNvSpPr/>
          <p:nvPr/>
        </p:nvSpPr>
        <p:spPr>
          <a:xfrm>
            <a:off x="1143000" y="981075"/>
            <a:ext cx="996950" cy="2131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4605"/>
              </a:lnSpc>
              <a:buNone/>
            </a:pPr>
            <a:r>
              <a:rPr lang="en-US" sz="825" spc="17" kern="0" dirty="0">
                <a:solidFill>
                  <a:srgbClr val="7C14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DEVOPS DAY 反思</a:t>
            </a:r>
            <a:endParaRPr lang="en-US" sz="825" dirty="0"/>
          </a:p>
        </p:txBody>
      </p:sp>
      <p:sp>
        <p:nvSpPr>
          <p:cNvPr id="5" name="Shape 3"/>
          <p:cNvSpPr/>
          <p:nvPr/>
        </p:nvSpPr>
        <p:spPr>
          <a:xfrm>
            <a:off x="2311400" y="952500"/>
            <a:ext cx="580330" cy="232172"/>
          </a:xfrm>
          <a:prstGeom prst="rect">
            <a:avLst/>
          </a:prstGeom>
          <a:ln w="6350">
            <a:solidFill>
              <a:srgbClr val="EC301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413000" y="987425"/>
            <a:ext cx="453330" cy="2004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4605"/>
              </a:lnSpc>
              <a:buNone/>
            </a:pPr>
            <a:r>
              <a:rPr lang="en-US" sz="825" spc="17" kern="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REBAC</a:t>
            </a:r>
            <a:endParaRPr lang="en-US" sz="825" dirty="0"/>
          </a:p>
        </p:txBody>
      </p:sp>
      <p:sp>
        <p:nvSpPr>
          <p:cNvPr id="7" name="Shape 5"/>
          <p:cNvSpPr/>
          <p:nvPr/>
        </p:nvSpPr>
        <p:spPr>
          <a:xfrm>
            <a:off x="3044130" y="952500"/>
            <a:ext cx="737195" cy="232172"/>
          </a:xfrm>
          <a:prstGeom prst="rect">
            <a:avLst/>
          </a:prstGeom>
          <a:ln w="6350">
            <a:solidFill>
              <a:srgbClr val="EC301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145730" y="987425"/>
            <a:ext cx="610195" cy="2004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4605"/>
              </a:lnSpc>
              <a:buNone/>
            </a:pPr>
            <a:r>
              <a:rPr lang="en-US" sz="825" spc="17" kern="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OPENFGA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1047750" y="3701157"/>
            <a:ext cx="16678275" cy="13547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255"/>
              </a:lnSpc>
              <a:buNone/>
            </a:pPr>
            <a:r>
              <a:rPr lang="en-US" sz="4800" b="1" spc="-72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從 DevOps Day，回頭看 IPAM 的權限設計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1047750" y="5284490"/>
            <a:ext cx="17811750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783"/>
              </a:lnSpc>
              <a:buNone/>
            </a:pPr>
            <a:r>
              <a:rPr lang="en-US" sz="300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DevOps Day 2026 ReBAC × OpenFGA 工作坊，一次系統反思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1047750" y="8391525"/>
            <a:ext cx="161925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1047750" y="8639175"/>
            <a:ext cx="14201265" cy="923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135"/>
              </a:lnSpc>
              <a:buNone/>
            </a:pPr>
            <a:r>
              <a:rPr lang="en-US" sz="22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去聽了 DevOps Day 2026 的 ReBAC/OpenFGA workshop，回來想跟大家分享：如果把這個概念套進我們的 IPAM 系統，會看到什麼。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15216386" y="8709025"/>
            <a:ext cx="2264351" cy="39241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dirty="0">
                <a:solidFill>
                  <a:srgbClr val="60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ISED-08 MCLEESZ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3F2F2"/>
          </a:solidFill>
          <a:ln/>
        </p:spPr>
      </p:sp>
      <p:sp>
        <p:nvSpPr>
          <p:cNvPr id="3" name="Text 1"/>
          <p:cNvSpPr/>
          <p:nvPr/>
        </p:nvSpPr>
        <p:spPr>
          <a:xfrm>
            <a:off x="1047750" y="952500"/>
            <a:ext cx="17811750" cy="3924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b="1" spc="144" kern="0" dirty="0">
                <a:solidFill>
                  <a:srgbClr val="AE1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47750" y="1459210"/>
            <a:ext cx="17811750" cy="5928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3900" b="1" spc="-58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今天講什麼？</a:t>
            </a:r>
            <a:endParaRPr lang="en-US" sz="3900" dirty="0"/>
          </a:p>
        </p:txBody>
      </p:sp>
      <p:sp>
        <p:nvSpPr>
          <p:cNvPr id="5" name="Shape 3"/>
          <p:cNvSpPr/>
          <p:nvPr/>
        </p:nvSpPr>
        <p:spPr>
          <a:xfrm>
            <a:off x="1047750" y="2471142"/>
            <a:ext cx="161925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267200" y="2490192"/>
            <a:ext cx="19050" cy="7034808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047750" y="2833092"/>
            <a:ext cx="3248025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783"/>
              </a:lnSpc>
              <a:buNone/>
            </a:pPr>
            <a:r>
              <a:rPr lang="en-US" sz="3000" b="1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047750" y="3614142"/>
            <a:ext cx="3248025" cy="3924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現況速覽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47750" y="4082753"/>
            <a:ext cx="3248025" cy="3924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dirty="0">
                <a:solidFill>
                  <a:srgbClr val="60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IPAM 現在怎麼做權限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505700" y="2490192"/>
            <a:ext cx="19050" cy="7034808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4552950" y="2833092"/>
            <a:ext cx="2954655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783"/>
              </a:lnSpc>
              <a:buNone/>
            </a:pPr>
            <a:r>
              <a:rPr lang="en-US" sz="3000" b="1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4552950" y="3614142"/>
            <a:ext cx="2954655" cy="3924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OpenFGA 怎麼運作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552950" y="4082753"/>
            <a:ext cx="2766632" cy="7467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dirty="0">
                <a:solidFill>
                  <a:srgbClr val="60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tuple、model、check() 三個概念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0744200" y="2490192"/>
            <a:ext cx="19050" cy="7034808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7791450" y="2833092"/>
            <a:ext cx="2954655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783"/>
              </a:lnSpc>
              <a:buNone/>
            </a:pPr>
            <a:r>
              <a:rPr lang="en-US" sz="3000" b="1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7791450" y="3614142"/>
            <a:ext cx="2954655" cy="3924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模型怎麼驗證正確性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791450" y="4082753"/>
            <a:ext cx="2954655" cy="3924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dirty="0">
                <a:solidFill>
                  <a:srgbClr val="60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改規則會不會誤放權限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3982700" y="2490192"/>
            <a:ext cx="19050" cy="7034808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11029950" y="2833092"/>
            <a:ext cx="2954655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783"/>
              </a:lnSpc>
              <a:buNone/>
            </a:pPr>
            <a:r>
              <a:rPr lang="en-US" sz="3000" b="1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11029950" y="3614142"/>
            <a:ext cx="2766632" cy="7467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套用在 IPAM，兩個技術面觀察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1029950" y="4437063"/>
            <a:ext cx="2954655" cy="3924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dirty="0">
                <a:solidFill>
                  <a:srgbClr val="60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複雜度與反向查詢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4268450" y="2833092"/>
            <a:ext cx="3268980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783"/>
              </a:lnSpc>
              <a:buNone/>
            </a:pPr>
            <a:r>
              <a:rPr lang="en-US" sz="3000" b="1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14268450" y="3614142"/>
            <a:ext cx="3268980" cy="3924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工具能幫上忙嗎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4268450" y="4082753"/>
            <a:ext cx="3268980" cy="3924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dirty="0">
                <a:solidFill>
                  <a:srgbClr val="60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Server + Q&amp;A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3F2F2"/>
          </a:solidFill>
          <a:ln/>
        </p:spPr>
      </p:sp>
      <p:sp>
        <p:nvSpPr>
          <p:cNvPr id="3" name="Text 1"/>
          <p:cNvSpPr/>
          <p:nvPr/>
        </p:nvSpPr>
        <p:spPr>
          <a:xfrm>
            <a:off x="1047750" y="952500"/>
            <a:ext cx="17811750" cy="3924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b="1" spc="144" kern="0" dirty="0">
                <a:solidFill>
                  <a:srgbClr val="AE1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現況速覽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47750" y="1459210"/>
            <a:ext cx="17811750" cy="5928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3900" b="1" spc="-58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IPAM 現在怎麼做權限？</a:t>
            </a:r>
            <a:endParaRPr lang="en-US" sz="3900" dirty="0"/>
          </a:p>
        </p:txBody>
      </p:sp>
      <p:sp>
        <p:nvSpPr>
          <p:cNvPr id="5" name="Shape 3"/>
          <p:cNvSpPr/>
          <p:nvPr/>
        </p:nvSpPr>
        <p:spPr>
          <a:xfrm>
            <a:off x="1047750" y="2204442"/>
            <a:ext cx="161925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047750" y="2499717"/>
            <a:ext cx="895747" cy="219472"/>
          </a:xfrm>
          <a:prstGeom prst="rect">
            <a:avLst/>
          </a:prstGeom>
          <a:solidFill>
            <a:srgbClr val="F8F4F4"/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2528292"/>
            <a:ext cx="781447" cy="2004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605"/>
              </a:lnSpc>
              <a:buNone/>
            </a:pPr>
            <a:r>
              <a:rPr lang="en-US" sz="825" spc="17" kern="0" dirty="0">
                <a:solidFill>
                  <a:srgbClr val="444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Authentication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1047750" y="2909689"/>
            <a:ext cx="1781175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808"/>
              </a:lnSpc>
              <a:buNone/>
            </a:pPr>
            <a:r>
              <a:rPr lang="en-US" sz="22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負責確認「你是誰，以及你是否具有有效的身分憑證」。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1047750" y="3433564"/>
            <a:ext cx="16678275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808"/>
              </a:lnSpc>
              <a:buNone/>
            </a:pPr>
            <a:r>
              <a:rPr lang="en-US" sz="2250" dirty="0">
                <a:solidFill>
                  <a:srgbClr val="60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透過 TSSO 完成身分認證並取得 JWT，再透過 Token Exchange（RFC 8693）交換取得 IPAM 使用的 Access Token；Service Account 則透過 Client Credentials 取得 Access Token。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1047750" y="4595614"/>
            <a:ext cx="161925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047750" y="4881364"/>
            <a:ext cx="16192500" cy="219472"/>
          </a:xfrm>
          <a:prstGeom prst="rect">
            <a:avLst/>
          </a:prstGeom>
          <a:solidFill>
            <a:srgbClr val="FFF2EF"/>
          </a:solidFill>
          <a:ln/>
        </p:spPr>
      </p:sp>
      <p:sp>
        <p:nvSpPr>
          <p:cNvPr id="12" name="Text 10"/>
          <p:cNvSpPr/>
          <p:nvPr/>
        </p:nvSpPr>
        <p:spPr>
          <a:xfrm>
            <a:off x="1143000" y="4909939"/>
            <a:ext cx="16487775" cy="2004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605"/>
              </a:lnSpc>
              <a:buNone/>
            </a:pPr>
            <a:r>
              <a:rPr lang="en-US" sz="825" spc="17" kern="0" dirty="0">
                <a:solidFill>
                  <a:srgbClr val="7C14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Authorization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1047750" y="5291336"/>
            <a:ext cx="1781175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808"/>
              </a:lnSpc>
              <a:buNone/>
            </a:pPr>
            <a:r>
              <a:rPr lang="en-US" sz="22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負責判斷「你能做什麼」——今天的重點：</a:t>
            </a:r>
            <a:endParaRPr lang="en-US" sz="2250" dirty="0"/>
          </a:p>
        </p:txBody>
      </p:sp>
      <p:sp>
        <p:nvSpPr>
          <p:cNvPr id="14" name="Shape 12"/>
          <p:cNvSpPr/>
          <p:nvPr/>
        </p:nvSpPr>
        <p:spPr>
          <a:xfrm>
            <a:off x="9124950" y="5948561"/>
            <a:ext cx="19050" cy="3576439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047750" y="5958086"/>
            <a:ext cx="537369" cy="219472"/>
          </a:xfrm>
          <a:prstGeom prst="rect">
            <a:avLst/>
          </a:prstGeom>
          <a:solidFill>
            <a:srgbClr val="F8F4F4"/>
          </a:solidFill>
          <a:ln/>
        </p:spPr>
      </p:sp>
      <p:sp>
        <p:nvSpPr>
          <p:cNvPr id="16" name="Text 14"/>
          <p:cNvSpPr/>
          <p:nvPr/>
        </p:nvSpPr>
        <p:spPr>
          <a:xfrm>
            <a:off x="1143000" y="5986661"/>
            <a:ext cx="423069" cy="2004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605"/>
              </a:lnSpc>
              <a:buNone/>
            </a:pPr>
            <a:r>
              <a:rPr lang="en-US" sz="825" spc="17" kern="0" dirty="0">
                <a:solidFill>
                  <a:srgbClr val="444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1</a:t>
            </a:r>
            <a:endParaRPr lang="en-US" sz="825" dirty="0"/>
          </a:p>
        </p:txBody>
      </p:sp>
      <p:sp>
        <p:nvSpPr>
          <p:cNvPr id="17" name="Text 15"/>
          <p:cNvSpPr/>
          <p:nvPr/>
        </p:nvSpPr>
        <p:spPr>
          <a:xfrm>
            <a:off x="1047750" y="6406158"/>
            <a:ext cx="8298180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783"/>
              </a:lnSpc>
              <a:buNone/>
            </a:pPr>
            <a:r>
              <a:rPr lang="en-US" sz="30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入口控制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1047750" y="7187208"/>
            <a:ext cx="7770114" cy="908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808"/>
              </a:lnSpc>
              <a:buNone/>
            </a:pPr>
            <a:r>
              <a:rPr lang="en-US" sz="22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Scope-based：Access Token 中的 scope（如 </a:t>
            </a:r>
            <a:pPr algn="l" indent="0" marL="0">
              <a:lnSpc>
                <a:spcPct val="129808"/>
              </a:lnSpc>
              <a:buNone/>
            </a:pPr>
            <a:r>
              <a:rPr lang="en-US" sz="2250" dirty="0">
                <a:solidFill>
                  <a:srgbClr val="201E1D"/>
                </a:solidFill>
                <a:highlight>
                  <a:srgbClr val="EAE7E7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ip-address:read </a:t>
            </a:r>
            <a:pPr algn="l" indent="0" marL="0">
              <a:lnSpc>
                <a:spcPct val="129808"/>
              </a:lnSpc>
              <a:buNone/>
            </a:pPr>
            <a:r>
              <a:rPr lang="en-US" sz="22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），決定你能呼叫哪些 API。</a:t>
            </a:r>
            <a:endParaRPr lang="en-US" sz="2250" dirty="0"/>
          </a:p>
        </p:txBody>
      </p:sp>
      <p:sp>
        <p:nvSpPr>
          <p:cNvPr id="19" name="Shape 17"/>
          <p:cNvSpPr/>
          <p:nvPr/>
        </p:nvSpPr>
        <p:spPr>
          <a:xfrm>
            <a:off x="9677400" y="5958086"/>
            <a:ext cx="542230" cy="219472"/>
          </a:xfrm>
          <a:prstGeom prst="rect">
            <a:avLst/>
          </a:prstGeom>
          <a:solidFill>
            <a:srgbClr val="F8F4F4"/>
          </a:solidFill>
          <a:ln/>
        </p:spPr>
      </p:sp>
      <p:sp>
        <p:nvSpPr>
          <p:cNvPr id="20" name="Text 18"/>
          <p:cNvSpPr/>
          <p:nvPr/>
        </p:nvSpPr>
        <p:spPr>
          <a:xfrm>
            <a:off x="9772650" y="5986661"/>
            <a:ext cx="427930" cy="2004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605"/>
              </a:lnSpc>
              <a:buNone/>
            </a:pPr>
            <a:r>
              <a:rPr lang="en-US" sz="825" spc="17" kern="0" dirty="0">
                <a:solidFill>
                  <a:srgbClr val="444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2</a:t>
            </a:r>
            <a:endParaRPr lang="en-US" sz="825" dirty="0"/>
          </a:p>
        </p:txBody>
      </p:sp>
      <p:sp>
        <p:nvSpPr>
          <p:cNvPr id="21" name="Text 19"/>
          <p:cNvSpPr/>
          <p:nvPr/>
        </p:nvSpPr>
        <p:spPr>
          <a:xfrm>
            <a:off x="9677400" y="6406158"/>
            <a:ext cx="8319135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783"/>
              </a:lnSpc>
              <a:buNone/>
            </a:pPr>
            <a:r>
              <a:rPr lang="en-US" sz="30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 Authorization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9677400" y="7187208"/>
            <a:ext cx="7789736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808"/>
              </a:lnSpc>
              <a:buNone/>
            </a:pPr>
            <a:r>
              <a:rPr lang="en-US" sz="22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Group-based：透過 User ↔ Group ↔ Subnet／IP 關係，決定使用者是否能操作特定 Resource。</a:t>
            </a:r>
            <a:endParaRPr lang="en-US" sz="2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EC3013"/>
          </a:solidFill>
          <a:ln/>
        </p:spPr>
      </p:sp>
      <p:sp>
        <p:nvSpPr>
          <p:cNvPr id="3" name="Text 1"/>
          <p:cNvSpPr/>
          <p:nvPr/>
        </p:nvSpPr>
        <p:spPr>
          <a:xfrm>
            <a:off x="1047750" y="4055765"/>
            <a:ext cx="17811750" cy="3924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b="1" spc="144" kern="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DevOps Day 啟發的問題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47750" y="4638675"/>
            <a:ext cx="16678275" cy="16305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725"/>
              </a:lnSpc>
              <a:buNone/>
            </a:pPr>
            <a:r>
              <a:rPr lang="en-US" sz="5700" b="1" spc="-85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如果換一套模型， 會是什麼樣子？</a:t>
            </a:r>
            <a:endParaRPr lang="en-US" sz="5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3F2F2"/>
          </a:solidFill>
          <a:ln/>
        </p:spPr>
      </p:sp>
      <p:sp>
        <p:nvSpPr>
          <p:cNvPr id="3" name="Text 1"/>
          <p:cNvSpPr/>
          <p:nvPr/>
        </p:nvSpPr>
        <p:spPr>
          <a:xfrm>
            <a:off x="1047750" y="952500"/>
            <a:ext cx="17811750" cy="3924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b="1" spc="144" kern="0" dirty="0">
                <a:solidFill>
                  <a:srgbClr val="AE1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OPENFGA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47750" y="1459210"/>
            <a:ext cx="17811750" cy="5928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3900" b="1" spc="-58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OpenFGA 怎麼運作權限？</a:t>
            </a:r>
            <a:endParaRPr lang="en-US" sz="3900" dirty="0"/>
          </a:p>
        </p:txBody>
      </p:sp>
      <p:sp>
        <p:nvSpPr>
          <p:cNvPr id="5" name="Shape 3"/>
          <p:cNvSpPr/>
          <p:nvPr/>
        </p:nvSpPr>
        <p:spPr>
          <a:xfrm>
            <a:off x="9124950" y="2471142"/>
            <a:ext cx="19050" cy="6575921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047750" y="2471142"/>
            <a:ext cx="8298180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783"/>
              </a:lnSpc>
              <a:buNone/>
            </a:pPr>
            <a:r>
              <a:rPr lang="en-US" sz="30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Tuple：關係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047750" y="3175992"/>
            <a:ext cx="8298180" cy="3924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dirty="0">
                <a:solidFill>
                  <a:srgbClr val="60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(user, relation, object)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047750" y="3663653"/>
            <a:ext cx="7543800" cy="1163836"/>
          </a:xfrm>
          <a:prstGeom prst="rect">
            <a:avLst/>
          </a:prstGeom>
          <a:solidFill>
            <a:srgbClr val="2D2B2B"/>
          </a:solidFill>
          <a:ln/>
        </p:spPr>
      </p:sp>
      <p:sp>
        <p:nvSpPr>
          <p:cNvPr id="9" name="Text 7"/>
          <p:cNvSpPr/>
          <p:nvPr/>
        </p:nvSpPr>
        <p:spPr>
          <a:xfrm>
            <a:off x="1295400" y="3873203"/>
            <a:ext cx="7753350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8243"/>
              </a:lnSpc>
              <a:buNone/>
            </a:pPr>
            <a:r>
              <a:rPr lang="en-US" sz="1650" dirty="0">
                <a:solidFill>
                  <a:srgbClr val="F8F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user:alice, member, group:ISED-01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1295400" y="4293196"/>
            <a:ext cx="7753350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8243"/>
              </a:lnSpc>
              <a:buNone/>
            </a:pPr>
            <a:r>
              <a:rPr lang="en-US" sz="1650" dirty="0">
                <a:solidFill>
                  <a:srgbClr val="F8F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group:ISED-01, owner, subnet:10.0.0.0/8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1047750" y="5094188"/>
            <a:ext cx="8298180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783"/>
              </a:lnSpc>
              <a:buNone/>
            </a:pPr>
            <a:r>
              <a:rPr lang="en-US" sz="30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Model：授權定義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1047750" y="5799038"/>
            <a:ext cx="7543800" cy="3248025"/>
          </a:xfrm>
          <a:prstGeom prst="rect">
            <a:avLst/>
          </a:prstGeom>
          <a:solidFill>
            <a:srgbClr val="2D2B2B"/>
          </a:solidFill>
          <a:ln/>
        </p:spPr>
      </p:sp>
      <p:sp>
        <p:nvSpPr>
          <p:cNvPr id="13" name="Text 11"/>
          <p:cNvSpPr/>
          <p:nvPr/>
        </p:nvSpPr>
        <p:spPr>
          <a:xfrm>
            <a:off x="1295400" y="6008588"/>
            <a:ext cx="7274814" cy="2867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588"/>
              </a:lnSpc>
              <a:buNone/>
            </a:pPr>
            <a:r>
              <a:rPr lang="en-US" sz="1500" dirty="0">
                <a:solidFill>
                  <a:srgbClr val="F8F4F4"/>
                </a:solidFill>
                <a:highlight>
                  <a:srgbClr val="2D2B2B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 group relations define member: [user] type subnet relations define owner: [group] define viewer: member from owner define writer: member from owner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677400" y="2960191"/>
            <a:ext cx="8319135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783"/>
              </a:lnSpc>
              <a:buNone/>
            </a:pPr>
            <a:r>
              <a:rPr lang="en-US" sz="30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Check：查詢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9677400" y="3741241"/>
            <a:ext cx="7789736" cy="9828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273"/>
              </a:lnSpc>
              <a:buNone/>
            </a:pPr>
            <a:r>
              <a:rPr lang="en-US" sz="240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check(user, relation, object) → true / false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9677400" y="4876502"/>
            <a:ext cx="7789736" cy="1323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808"/>
              </a:lnSpc>
              <a:buNone/>
            </a:pPr>
            <a:r>
              <a:rPr lang="en-US" sz="22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例如：Alice 可以 writer subnet:10.0.0.0/8 嗎？ 只需要問 OpenFGA 這一個問題： </a:t>
            </a:r>
            <a:pPr algn="l" indent="0" marL="0">
              <a:lnSpc>
                <a:spcPct val="129808"/>
              </a:lnSpc>
              <a:buNone/>
            </a:pPr>
            <a:r>
              <a:rPr lang="en-US" sz="1650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check(alice, writer, subnet:10.0.0.0/8)</a:t>
            </a:r>
            <a:endParaRPr lang="en-US" sz="2250" dirty="0"/>
          </a:p>
        </p:txBody>
      </p:sp>
      <p:sp>
        <p:nvSpPr>
          <p:cNvPr id="17" name="Text 15"/>
          <p:cNvSpPr/>
          <p:nvPr/>
        </p:nvSpPr>
        <p:spPr>
          <a:xfrm>
            <a:off x="9677400" y="6352877"/>
            <a:ext cx="7789736" cy="1366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135"/>
              </a:lnSpc>
              <a:buNone/>
            </a:pPr>
            <a:r>
              <a:rPr lang="en-US" sz="2250" dirty="0">
                <a:solidFill>
                  <a:srgbClr val="60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這是一次 API 呼叫——OpenFGA 是一個獨立跑的 server，App 打 API 給它，它自己去後面接的資料庫查 tuple、跑 model 邏輯。</a:t>
            </a:r>
            <a:endParaRPr lang="en-US" sz="2250" dirty="0"/>
          </a:p>
        </p:txBody>
      </p:sp>
      <p:sp>
        <p:nvSpPr>
          <p:cNvPr id="18" name="Text 16"/>
          <p:cNvSpPr/>
          <p:nvPr/>
        </p:nvSpPr>
        <p:spPr>
          <a:xfrm>
            <a:off x="9677400" y="7872115"/>
            <a:ext cx="7789736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571"/>
              </a:lnSpc>
              <a:buNone/>
            </a:pPr>
            <a:r>
              <a:rPr lang="en-US" sz="1800" dirty="0">
                <a:solidFill>
                  <a:srgbClr val="60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同一個 API 家族還有 </a:t>
            </a:r>
            <a:pPr algn="l" indent="0" marL="0">
              <a:lnSpc>
                <a:spcPct val="128571"/>
              </a:lnSpc>
              <a:buNone/>
            </a:pPr>
            <a:r>
              <a:rPr lang="en-US" sz="1800" b="1" dirty="0">
                <a:solidFill>
                  <a:srgbClr val="60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ListObjects </a:t>
            </a:r>
            <a:pPr algn="l" indent="0" marL="0">
              <a:lnSpc>
                <a:spcPct val="128571"/>
              </a:lnSpc>
              <a:buNone/>
            </a:pPr>
            <a:r>
              <a:rPr lang="en-US" sz="1800" dirty="0">
                <a:solidFill>
                  <a:srgbClr val="60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／ </a:t>
            </a:r>
            <a:pPr algn="l" indent="0" marL="0">
              <a:lnSpc>
                <a:spcPct val="128571"/>
              </a:lnSpc>
              <a:buNone/>
            </a:pPr>
            <a:r>
              <a:rPr lang="en-US" sz="1800" b="1" dirty="0">
                <a:solidFill>
                  <a:srgbClr val="60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ListUsers </a:t>
            </a:r>
            <a:pPr algn="l" indent="0" marL="0">
              <a:lnSpc>
                <a:spcPct val="128571"/>
              </a:lnSpc>
              <a:buNone/>
            </a:pPr>
            <a:r>
              <a:rPr lang="en-US" sz="1800" dirty="0">
                <a:solidFill>
                  <a:srgbClr val="60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——反過來查「這個人能看哪些物件」或「這個物件誰能看」，後面會用到。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1047750" y="9351863"/>
            <a:ext cx="161925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1047750" y="9637613"/>
            <a:ext cx="1781175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909"/>
              </a:lnSpc>
              <a:buNone/>
            </a:pPr>
            <a:r>
              <a:rPr lang="en-US" sz="24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Tuple 負責描述「現在是什麼關係」；Model 負責定義「關係如何推導」；Check 負責回答「現在到底有沒有權限」。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3F2F2"/>
          </a:solidFill>
          <a:ln/>
        </p:spPr>
      </p:sp>
      <p:sp>
        <p:nvSpPr>
          <p:cNvPr id="3" name="Text 1"/>
          <p:cNvSpPr/>
          <p:nvPr/>
        </p:nvSpPr>
        <p:spPr>
          <a:xfrm>
            <a:off x="1047750" y="952500"/>
            <a:ext cx="17811750" cy="3924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b="1" spc="144" kern="0" dirty="0">
                <a:solidFill>
                  <a:srgbClr val="AE1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模型怎麼驗證正確性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47750" y="1459210"/>
            <a:ext cx="17811750" cy="5928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3900" b="1" spc="-58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每個 Authorization Model 都應該有對應的測試</a:t>
            </a:r>
            <a:endParaRPr lang="en-US" sz="3900" dirty="0"/>
          </a:p>
        </p:txBody>
      </p:sp>
      <p:sp>
        <p:nvSpPr>
          <p:cNvPr id="5" name="Text 3"/>
          <p:cNvSpPr/>
          <p:nvPr/>
        </p:nvSpPr>
        <p:spPr>
          <a:xfrm>
            <a:off x="1047750" y="2204442"/>
            <a:ext cx="17287875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808"/>
              </a:lnSpc>
              <a:buNone/>
            </a:pPr>
            <a:r>
              <a:rPr lang="en-US" sz="22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聽完前一頁,最直接的疑慮是:改一條 model 規則,會不會不小心開放不該開的權限?</a:t>
            </a:r>
            <a:endParaRPr lang="en-US" sz="2250" dirty="0"/>
          </a:p>
        </p:txBody>
      </p:sp>
      <p:sp>
        <p:nvSpPr>
          <p:cNvPr id="6" name="Shape 4"/>
          <p:cNvSpPr/>
          <p:nvPr/>
        </p:nvSpPr>
        <p:spPr>
          <a:xfrm>
            <a:off x="1047750" y="3090267"/>
            <a:ext cx="161925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9124950" y="3109317"/>
            <a:ext cx="19050" cy="6415683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047750" y="3493492"/>
            <a:ext cx="630734" cy="232172"/>
          </a:xfrm>
          <a:prstGeom prst="rect">
            <a:avLst/>
          </a:prstGeom>
          <a:ln w="6350">
            <a:solidFill>
              <a:srgbClr val="EC301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49350" y="3528417"/>
            <a:ext cx="503734" cy="2004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4605"/>
              </a:lnSpc>
              <a:buNone/>
            </a:pPr>
            <a:r>
              <a:rPr lang="en-US" sz="825" spc="17" kern="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講者做法</a:t>
            </a:r>
            <a:endParaRPr lang="en-US" sz="825" dirty="0"/>
          </a:p>
        </p:txBody>
      </p:sp>
      <p:sp>
        <p:nvSpPr>
          <p:cNvPr id="10" name="Shape 8"/>
          <p:cNvSpPr/>
          <p:nvPr/>
        </p:nvSpPr>
        <p:spPr>
          <a:xfrm>
            <a:off x="1047750" y="3916164"/>
            <a:ext cx="7543800" cy="2594372"/>
          </a:xfrm>
          <a:prstGeom prst="rect">
            <a:avLst/>
          </a:prstGeom>
          <a:solidFill>
            <a:srgbClr val="2D2B2B"/>
          </a:solidFill>
          <a:ln/>
        </p:spPr>
      </p:sp>
      <p:sp>
        <p:nvSpPr>
          <p:cNvPr id="11" name="Text 9"/>
          <p:cNvSpPr/>
          <p:nvPr/>
        </p:nvSpPr>
        <p:spPr>
          <a:xfrm>
            <a:off x="1314450" y="4144764"/>
            <a:ext cx="7236714" cy="21752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1622"/>
              </a:lnSpc>
              <a:buNone/>
            </a:pPr>
            <a:r>
              <a:rPr lang="en-US" sz="1650" dirty="0">
                <a:solidFill>
                  <a:srgbClr val="F8F4F4"/>
                </a:solidFill>
                <a:highlight>
                  <a:srgbClr val="2D2B2B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fga model test --tests test-model.fga.yaml Test Summary Tests 8/8 passing Checks 42/42 passing ListUsers 1/1 passing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1047750" y="6701036"/>
            <a:ext cx="829818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571"/>
              </a:lnSpc>
              <a:buNone/>
            </a:pPr>
            <a:r>
              <a:rPr lang="en-US" sz="180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定義測試案例(check、ListUsers 等),驗證 model 行為符合預期。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9677400" y="3614341"/>
            <a:ext cx="7562850" cy="219472"/>
          </a:xfrm>
          <a:prstGeom prst="rect">
            <a:avLst/>
          </a:prstGeom>
          <a:solidFill>
            <a:srgbClr val="FFF2EF"/>
          </a:solidFill>
          <a:ln/>
        </p:spPr>
      </p:sp>
      <p:sp>
        <p:nvSpPr>
          <p:cNvPr id="14" name="Text 12"/>
          <p:cNvSpPr/>
          <p:nvPr/>
        </p:nvSpPr>
        <p:spPr>
          <a:xfrm>
            <a:off x="9772650" y="3642916"/>
            <a:ext cx="7599236" cy="2004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4605"/>
              </a:lnSpc>
              <a:buNone/>
            </a:pPr>
            <a:r>
              <a:rPr lang="en-US" sz="825" spc="17" kern="0" dirty="0">
                <a:solidFill>
                  <a:srgbClr val="7C14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如果套用到我們的環境</a:t>
            </a:r>
            <a:endParaRPr lang="en-US" sz="825" dirty="0"/>
          </a:p>
        </p:txBody>
      </p:sp>
      <p:sp>
        <p:nvSpPr>
          <p:cNvPr id="15" name="Text 13"/>
          <p:cNvSpPr/>
          <p:nvPr/>
        </p:nvSpPr>
        <p:spPr>
          <a:xfrm>
            <a:off x="9677400" y="4062412"/>
            <a:ext cx="7789736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8462"/>
              </a:lnSpc>
              <a:buNone/>
            </a:pPr>
            <a:r>
              <a:rPr lang="en-US" sz="22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我們用 GitLab——這類測試可以整合進 GitLab CI：</a:t>
            </a:r>
            <a:endParaRPr lang="en-US" sz="2250" dirty="0"/>
          </a:p>
        </p:txBody>
      </p:sp>
      <p:sp>
        <p:nvSpPr>
          <p:cNvPr id="16" name="Shape 14"/>
          <p:cNvSpPr/>
          <p:nvPr/>
        </p:nvSpPr>
        <p:spPr>
          <a:xfrm>
            <a:off x="9677400" y="4748213"/>
            <a:ext cx="1516559" cy="477143"/>
          </a:xfrm>
          <a:prstGeom prst="rect">
            <a:avLst/>
          </a:prstGeom>
          <a:solidFill>
            <a:srgbClr val="EAE7E7"/>
          </a:solidFill>
          <a:ln/>
        </p:spPr>
      </p:sp>
      <p:sp>
        <p:nvSpPr>
          <p:cNvPr id="17" name="Text 15"/>
          <p:cNvSpPr/>
          <p:nvPr/>
        </p:nvSpPr>
        <p:spPr>
          <a:xfrm>
            <a:off x="9848850" y="4824412"/>
            <a:ext cx="1249859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8243"/>
              </a:lnSpc>
              <a:buNone/>
            </a:pPr>
            <a:r>
              <a:rPr lang="en-US" sz="1650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修改 Model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9677400" y="5244405"/>
            <a:ext cx="1714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765"/>
              </a:lnSpc>
              <a:buNone/>
            </a:pPr>
            <a:r>
              <a:rPr lang="en-US" sz="1500" dirty="0">
                <a:solidFill>
                  <a:srgbClr val="60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9677400" y="5558730"/>
            <a:ext cx="594420" cy="477143"/>
          </a:xfrm>
          <a:prstGeom prst="rect">
            <a:avLst/>
          </a:prstGeom>
          <a:solidFill>
            <a:srgbClr val="EAE7E7"/>
          </a:solidFill>
          <a:ln/>
        </p:spPr>
      </p:sp>
      <p:sp>
        <p:nvSpPr>
          <p:cNvPr id="20" name="Text 18"/>
          <p:cNvSpPr/>
          <p:nvPr/>
        </p:nvSpPr>
        <p:spPr>
          <a:xfrm>
            <a:off x="9848850" y="5634930"/>
            <a:ext cx="327720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8243"/>
              </a:lnSpc>
              <a:buNone/>
            </a:pPr>
            <a:r>
              <a:rPr lang="en-US" sz="1650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MR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9677400" y="6054923"/>
            <a:ext cx="1714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765"/>
              </a:lnSpc>
              <a:buNone/>
            </a:pPr>
            <a:r>
              <a:rPr lang="en-US" sz="1500" dirty="0">
                <a:solidFill>
                  <a:srgbClr val="60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9677400" y="6369248"/>
            <a:ext cx="1474688" cy="477143"/>
          </a:xfrm>
          <a:prstGeom prst="rect">
            <a:avLst/>
          </a:prstGeom>
          <a:solidFill>
            <a:srgbClr val="EAE7E7"/>
          </a:solidFill>
          <a:ln/>
        </p:spPr>
      </p:sp>
      <p:sp>
        <p:nvSpPr>
          <p:cNvPr id="23" name="Text 21"/>
          <p:cNvSpPr/>
          <p:nvPr/>
        </p:nvSpPr>
        <p:spPr>
          <a:xfrm>
            <a:off x="9848850" y="6445448"/>
            <a:ext cx="1207988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8243"/>
              </a:lnSpc>
              <a:buNone/>
            </a:pPr>
            <a:r>
              <a:rPr lang="en-US" sz="1650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GitLab CI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9677400" y="6865441"/>
            <a:ext cx="1714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765"/>
              </a:lnSpc>
              <a:buNone/>
            </a:pPr>
            <a:r>
              <a:rPr lang="en-US" sz="1500" dirty="0">
                <a:solidFill>
                  <a:srgbClr val="60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9677400" y="7179766"/>
            <a:ext cx="3486745" cy="477143"/>
          </a:xfrm>
          <a:prstGeom prst="rect">
            <a:avLst/>
          </a:prstGeom>
          <a:solidFill>
            <a:srgbClr val="EAE7E7"/>
          </a:solidFill>
          <a:ln/>
        </p:spPr>
      </p:sp>
      <p:sp>
        <p:nvSpPr>
          <p:cNvPr id="26" name="Text 24"/>
          <p:cNvSpPr/>
          <p:nvPr/>
        </p:nvSpPr>
        <p:spPr>
          <a:xfrm>
            <a:off x="9848850" y="7255966"/>
            <a:ext cx="3248448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8243"/>
              </a:lnSpc>
              <a:buNone/>
            </a:pPr>
            <a:r>
              <a:rPr lang="en-US" sz="1650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Authorization Model Tests</a:t>
            </a:r>
            <a:endParaRPr lang="en-US" sz="1650" dirty="0"/>
          </a:p>
        </p:txBody>
      </p:sp>
      <p:sp>
        <p:nvSpPr>
          <p:cNvPr id="27" name="Text 25"/>
          <p:cNvSpPr/>
          <p:nvPr/>
        </p:nvSpPr>
        <p:spPr>
          <a:xfrm>
            <a:off x="9677400" y="7675959"/>
            <a:ext cx="1714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765"/>
              </a:lnSpc>
              <a:buNone/>
            </a:pPr>
            <a:r>
              <a:rPr lang="en-US" sz="1500" dirty="0">
                <a:solidFill>
                  <a:srgbClr val="60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9677400" y="7990284"/>
            <a:ext cx="1726208" cy="477143"/>
          </a:xfrm>
          <a:prstGeom prst="rect">
            <a:avLst/>
          </a:prstGeom>
          <a:solidFill>
            <a:srgbClr val="EC3013"/>
          </a:solidFill>
          <a:ln/>
        </p:spPr>
      </p:sp>
      <p:sp>
        <p:nvSpPr>
          <p:cNvPr id="29" name="Text 27"/>
          <p:cNvSpPr/>
          <p:nvPr/>
        </p:nvSpPr>
        <p:spPr>
          <a:xfrm>
            <a:off x="9848850" y="8066484"/>
            <a:ext cx="1459508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8243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 / FAIL</a:t>
            </a:r>
            <a:endParaRPr lang="en-US" sz="1650" dirty="0"/>
          </a:p>
        </p:txBody>
      </p:sp>
      <p:sp>
        <p:nvSpPr>
          <p:cNvPr id="30" name="Shape 28"/>
          <p:cNvSpPr/>
          <p:nvPr/>
        </p:nvSpPr>
        <p:spPr>
          <a:xfrm>
            <a:off x="9677400" y="8696027"/>
            <a:ext cx="756285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9677400" y="8943677"/>
            <a:ext cx="7789736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8462"/>
              </a:lnSpc>
              <a:buNone/>
            </a:pPr>
            <a:r>
              <a:rPr lang="en-US" sz="225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測試沒過就擋下來，不讓未驗證的授權規則直接 Merge。</a:t>
            </a:r>
            <a:endParaRPr lang="en-US" sz="2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3F2F2"/>
          </a:solidFill>
          <a:ln/>
        </p:spPr>
      </p:sp>
      <p:sp>
        <p:nvSpPr>
          <p:cNvPr id="3" name="Text 1"/>
          <p:cNvSpPr/>
          <p:nvPr/>
        </p:nvSpPr>
        <p:spPr>
          <a:xfrm>
            <a:off x="1047750" y="3171825"/>
            <a:ext cx="17811750" cy="3924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b="1" spc="144" kern="0" dirty="0">
                <a:solidFill>
                  <a:srgbClr val="AE1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值得研究的方向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47750" y="3754735"/>
            <a:ext cx="17811750" cy="7314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577"/>
              </a:lnSpc>
              <a:buNone/>
            </a:pPr>
            <a:r>
              <a:rPr lang="en-US" sz="4200" b="1" spc="-63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如果套用 OpenFGA，</a:t>
            </a:r>
            <a:pPr algn="l" indent="0" marL="0">
              <a:lnSpc>
                <a:spcPct val="112577"/>
              </a:lnSpc>
              <a:buNone/>
            </a:pPr>
            <a:r>
              <a:rPr lang="en-US" sz="4200" b="1" spc="-63" kern="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有兩個技術面向</a:t>
            </a:r>
            <a:pPr algn="l" indent="0" marL="0">
              <a:lnSpc>
                <a:spcPct val="112577"/>
              </a:lnSpc>
              <a:buNone/>
            </a:pPr>
            <a:r>
              <a:rPr lang="en-US" sz="4200" b="1" spc="-63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值得驗證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1047750" y="4829076"/>
            <a:ext cx="16678275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435"/>
              </a:lnSpc>
              <a:buNone/>
            </a:pPr>
            <a:r>
              <a:rPr lang="en-US" sz="300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一個是</a:t>
            </a:r>
            <a:pPr algn="l" indent="0" marL="0">
              <a:lnSpc>
                <a:spcPct val="130435"/>
              </a:lnSpc>
              <a:buNone/>
            </a:pPr>
            <a:r>
              <a:rPr lang="en-US" sz="30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維護成本 </a:t>
            </a:r>
            <a:pPr algn="l" indent="0" marL="0">
              <a:lnSpc>
                <a:spcPct val="130435"/>
              </a:lnSpc>
              <a:buNone/>
            </a:pPr>
            <a:r>
              <a:rPr lang="en-US" sz="300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——現在授權判斷的 SQL 邏輯分散在多個地方，光是查一次權限就有 27 段判斷邏輯要拼，這些能不能收斂到 OpenFGA 的 Relationship Model 中集中管理；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047750" y="6162576"/>
            <a:ext cx="16678275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435"/>
              </a:lnSpc>
              <a:buNone/>
            </a:pPr>
            <a:r>
              <a:rPr lang="en-US" sz="300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一個是</a:t>
            </a:r>
            <a:pPr algn="l" indent="0" marL="0">
              <a:lnSpc>
                <a:spcPct val="130435"/>
              </a:lnSpc>
              <a:buNone/>
            </a:pPr>
            <a:r>
              <a:rPr lang="en-US" sz="30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反向查詢 </a:t>
            </a:r>
            <a:pPr algn="l" indent="0" marL="0">
              <a:lnSpc>
                <a:spcPct val="130435"/>
              </a:lnSpc>
              <a:buNone/>
            </a:pPr>
            <a:r>
              <a:rPr lang="en-US" sz="300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——「誰能存取這個資源」現在得手刻 SQL 兜出來，容易漏掉授權路徑，也不容易覆核，能不能透過 OpenFGA 的 ListUsers／ListObjects 直接完成。</a:t>
            </a:r>
            <a:endParaRPr lang="en-US" sz="3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3F2F2"/>
          </a:solidFill>
          <a:ln/>
        </p:spPr>
      </p:sp>
      <p:sp>
        <p:nvSpPr>
          <p:cNvPr id="3" name="Text 1"/>
          <p:cNvSpPr/>
          <p:nvPr/>
        </p:nvSpPr>
        <p:spPr>
          <a:xfrm>
            <a:off x="1047750" y="952500"/>
            <a:ext cx="17811750" cy="3924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b="1" spc="144" kern="0" dirty="0">
                <a:solidFill>
                  <a:srgbClr val="AE1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技術觀察 1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47750" y="1459210"/>
            <a:ext cx="17811750" cy="5928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3900" b="1" spc="-58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維護成本：permissionSQLProvider，27 個 SQL 片段</a:t>
            </a:r>
            <a:endParaRPr lang="en-US" sz="3900" dirty="0"/>
          </a:p>
        </p:txBody>
      </p:sp>
      <p:sp>
        <p:nvSpPr>
          <p:cNvPr id="5" name="Shape 3"/>
          <p:cNvSpPr/>
          <p:nvPr/>
        </p:nvSpPr>
        <p:spPr>
          <a:xfrm>
            <a:off x="1047750" y="2474317"/>
            <a:ext cx="2419846" cy="232172"/>
          </a:xfrm>
          <a:prstGeom prst="rect">
            <a:avLst/>
          </a:prstGeom>
          <a:ln w="6350">
            <a:solidFill>
              <a:srgbClr val="EC301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9350" y="2509242"/>
            <a:ext cx="2292846" cy="2004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4605"/>
              </a:lnSpc>
              <a:buNone/>
            </a:pPr>
            <a:r>
              <a:rPr lang="en-US" sz="825" spc="17" kern="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現況（示意）：查一次權限要 UNION 多條路徑</a:t>
            </a:r>
            <a:endParaRPr lang="en-US" sz="825" dirty="0"/>
          </a:p>
        </p:txBody>
      </p:sp>
      <p:sp>
        <p:nvSpPr>
          <p:cNvPr id="7" name="Shape 5"/>
          <p:cNvSpPr/>
          <p:nvPr/>
        </p:nvSpPr>
        <p:spPr>
          <a:xfrm>
            <a:off x="1047750" y="2896989"/>
            <a:ext cx="16192500" cy="3224014"/>
          </a:xfrm>
          <a:prstGeom prst="rect">
            <a:avLst/>
          </a:prstGeom>
          <a:solidFill>
            <a:srgbClr val="2D2B2B"/>
          </a:solidFill>
          <a:ln/>
        </p:spPr>
      </p:sp>
      <p:sp>
        <p:nvSpPr>
          <p:cNvPr id="8" name="Text 6"/>
          <p:cNvSpPr/>
          <p:nvPr/>
        </p:nvSpPr>
        <p:spPr>
          <a:xfrm>
            <a:off x="1333500" y="3106539"/>
            <a:ext cx="16106775" cy="28430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3864"/>
              </a:lnSpc>
              <a:buNone/>
            </a:pPr>
            <a:r>
              <a:rPr lang="en-US" sz="1425" dirty="0">
                <a:solidFill>
                  <a:srgbClr val="F8F4F4"/>
                </a:solidFill>
                <a:highlight>
                  <a:srgbClr val="2D2B2B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1 FROM groups_user gu JOIN ip_address ip ON ip.group_id = gu.group_id WHERE gu.user_id = :uid UNION SELECT 1 FROM groups_user gu JOIN groups_subnet gs ON gs.group_id = gu.group_id JOIN subnet s ON s.id = gs.subnet_id WHERE gu.user_id = :uid UNION SELECT 1 FROM groups_user gu JOIN groups_section gsec ON gsec.group_id = gu.group_id JOIN section sec ON sec.id = gsec.section_id WHERE gu.user_id = :uid AND sec.org_code = :orgCode UNION -- ...代理鏈、delegation 等其他授權路徑</a:t>
            </a:r>
            <a:endParaRPr lang="en-US" sz="1425" dirty="0"/>
          </a:p>
        </p:txBody>
      </p:sp>
      <p:sp>
        <p:nvSpPr>
          <p:cNvPr id="9" name="Shape 7"/>
          <p:cNvSpPr/>
          <p:nvPr/>
        </p:nvSpPr>
        <p:spPr>
          <a:xfrm>
            <a:off x="1047750" y="6387703"/>
            <a:ext cx="161925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047750" y="6644878"/>
            <a:ext cx="897731" cy="219472"/>
          </a:xfrm>
          <a:prstGeom prst="rect">
            <a:avLst/>
          </a:prstGeom>
          <a:solidFill>
            <a:srgbClr val="FFF2EF"/>
          </a:solidFill>
          <a:ln/>
        </p:spPr>
      </p:sp>
      <p:sp>
        <p:nvSpPr>
          <p:cNvPr id="11" name="Text 9"/>
          <p:cNvSpPr/>
          <p:nvPr/>
        </p:nvSpPr>
        <p:spPr>
          <a:xfrm>
            <a:off x="1143000" y="6673453"/>
            <a:ext cx="783431" cy="2004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4605"/>
              </a:lnSpc>
              <a:buNone/>
            </a:pPr>
            <a:r>
              <a:rPr lang="en-US" sz="825" spc="17" kern="0" dirty="0">
                <a:solidFill>
                  <a:srgbClr val="7C14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如果用 ReBAC</a:t>
            </a:r>
            <a:endParaRPr lang="en-US" sz="825" dirty="0"/>
          </a:p>
        </p:txBody>
      </p:sp>
      <p:sp>
        <p:nvSpPr>
          <p:cNvPr id="12" name="Text 10"/>
          <p:cNvSpPr/>
          <p:nvPr/>
        </p:nvSpPr>
        <p:spPr>
          <a:xfrm>
            <a:off x="1047750" y="7054850"/>
            <a:ext cx="16678275" cy="923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135"/>
              </a:lnSpc>
              <a:buNone/>
            </a:pPr>
            <a:r>
              <a:rPr lang="en-US" sz="22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Check(user:alice, can_write, ip_address:10.0.0.5) → true / false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1047750" y="8093075"/>
            <a:ext cx="16678275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808"/>
              </a:lnSpc>
              <a:buNone/>
            </a:pPr>
            <a:r>
              <a:rPr lang="en-US" sz="22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如果這 8 條授權路徑都能用 Relationship Model 表達，就可以把授權關係集中到 Model，由 OpenFGA 負責推導，Application 端只需要統一呼叫 Check()。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1047750" y="9102725"/>
            <a:ext cx="1781175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808"/>
              </a:lnSpc>
              <a:buNone/>
            </a:pPr>
            <a:r>
              <a:rPr lang="en-US" sz="2250" dirty="0">
                <a:solidFill>
                  <a:srgbClr val="60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程式碼端從「多條 SQL + UNION + 自己判斷」變成「一次 Check()」。</a:t>
            </a:r>
            <a:endParaRPr lang="en-US" sz="2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3F2F2"/>
          </a:solidFill>
          <a:ln/>
        </p:spPr>
      </p:sp>
      <p:sp>
        <p:nvSpPr>
          <p:cNvPr id="3" name="Text 1"/>
          <p:cNvSpPr/>
          <p:nvPr/>
        </p:nvSpPr>
        <p:spPr>
          <a:xfrm>
            <a:off x="1047750" y="952500"/>
            <a:ext cx="17811750" cy="3924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b="1" spc="144" kern="0" dirty="0">
                <a:solidFill>
                  <a:srgbClr val="AE1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技術觀察 2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47750" y="1459210"/>
            <a:ext cx="17811750" cy="5928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3900" b="1" spc="-58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反向查詢與授權粒度：現在的設計取捨</a:t>
            </a:r>
            <a:endParaRPr lang="en-US" sz="3900" dirty="0"/>
          </a:p>
        </p:txBody>
      </p:sp>
      <p:sp>
        <p:nvSpPr>
          <p:cNvPr id="5" name="Text 3"/>
          <p:cNvSpPr/>
          <p:nvPr/>
        </p:nvSpPr>
        <p:spPr>
          <a:xfrm>
            <a:off x="1047750" y="2204442"/>
            <a:ext cx="1781175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808"/>
              </a:lnSpc>
              <a:buNone/>
            </a:pPr>
            <a:r>
              <a:rPr lang="en-US" sz="2250" dirty="0">
                <a:solidFill>
                  <a:srgbClr val="60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兩件事背後其實是同一個原因：目前授權主要以 group 為基本單位，這也決定了我們現在的授權粒度。</a:t>
            </a:r>
            <a:endParaRPr lang="en-US" sz="2250" dirty="0"/>
          </a:p>
        </p:txBody>
      </p:sp>
      <p:sp>
        <p:nvSpPr>
          <p:cNvPr id="6" name="Shape 4"/>
          <p:cNvSpPr/>
          <p:nvPr/>
        </p:nvSpPr>
        <p:spPr>
          <a:xfrm>
            <a:off x="1047750" y="2899767"/>
            <a:ext cx="161925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9124950" y="2918817"/>
            <a:ext cx="19050" cy="6606183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047750" y="3226792"/>
            <a:ext cx="417016" cy="232172"/>
          </a:xfrm>
          <a:prstGeom prst="rect">
            <a:avLst/>
          </a:prstGeom>
          <a:ln w="6350">
            <a:solidFill>
              <a:srgbClr val="EC301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49350" y="3261717"/>
            <a:ext cx="290016" cy="2004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4605"/>
              </a:lnSpc>
              <a:buNone/>
            </a:pPr>
            <a:r>
              <a:rPr lang="en-US" sz="825" spc="17" kern="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現況</a:t>
            </a:r>
            <a:endParaRPr lang="en-US" sz="825" dirty="0"/>
          </a:p>
        </p:txBody>
      </p:sp>
      <p:sp>
        <p:nvSpPr>
          <p:cNvPr id="10" name="Text 8"/>
          <p:cNvSpPr/>
          <p:nvPr/>
        </p:nvSpPr>
        <p:spPr>
          <a:xfrm>
            <a:off x="1047750" y="3649464"/>
            <a:ext cx="8298180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135"/>
              </a:lnSpc>
              <a:buNone/>
            </a:pPr>
            <a:r>
              <a:rPr lang="en-US" sz="225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反向查詢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1047750" y="4187627"/>
            <a:ext cx="7770114" cy="923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135"/>
              </a:lnSpc>
              <a:buNone/>
            </a:pPr>
            <a:r>
              <a:rPr lang="en-US" sz="22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稽核要求列出「這個 subnet 現在誰有存取權」——需要手刻 SQL、串接多條授權路徑，查詢與覆核成本較高。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1047750" y="5263952"/>
            <a:ext cx="8298180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135"/>
              </a:lnSpc>
              <a:buNone/>
            </a:pPr>
            <a:r>
              <a:rPr lang="en-US" sz="225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授權粒度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1047750" y="5802114"/>
            <a:ext cx="7770114" cy="923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135"/>
              </a:lnSpc>
              <a:buNone/>
            </a:pPr>
            <a:r>
              <a:rPr lang="en-US" sz="22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如果只想授權給單一使用者，目前通常需要建立一個只有他的 group。</a:t>
            </a:r>
            <a:endParaRPr lang="en-US" sz="2250" dirty="0"/>
          </a:p>
        </p:txBody>
      </p:sp>
      <p:sp>
        <p:nvSpPr>
          <p:cNvPr id="14" name="Shape 12"/>
          <p:cNvSpPr/>
          <p:nvPr/>
        </p:nvSpPr>
        <p:spPr>
          <a:xfrm>
            <a:off x="9677400" y="3233142"/>
            <a:ext cx="897731" cy="219472"/>
          </a:xfrm>
          <a:prstGeom prst="rect">
            <a:avLst/>
          </a:prstGeom>
          <a:solidFill>
            <a:srgbClr val="FFF2EF"/>
          </a:solidFill>
          <a:ln/>
        </p:spPr>
      </p:sp>
      <p:sp>
        <p:nvSpPr>
          <p:cNvPr id="15" name="Text 13"/>
          <p:cNvSpPr/>
          <p:nvPr/>
        </p:nvSpPr>
        <p:spPr>
          <a:xfrm>
            <a:off x="9772650" y="3261717"/>
            <a:ext cx="783431" cy="2004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4605"/>
              </a:lnSpc>
              <a:buNone/>
            </a:pPr>
            <a:r>
              <a:rPr lang="en-US" sz="825" spc="17" kern="0" dirty="0">
                <a:solidFill>
                  <a:srgbClr val="7C14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如果用 ReBAC</a:t>
            </a:r>
            <a:endParaRPr lang="en-US" sz="825" dirty="0"/>
          </a:p>
        </p:txBody>
      </p:sp>
      <p:sp>
        <p:nvSpPr>
          <p:cNvPr id="16" name="Text 14"/>
          <p:cNvSpPr/>
          <p:nvPr/>
        </p:nvSpPr>
        <p:spPr>
          <a:xfrm>
            <a:off x="9677400" y="3643114"/>
            <a:ext cx="8319135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135"/>
              </a:lnSpc>
              <a:buNone/>
            </a:pPr>
            <a:r>
              <a:rPr lang="en-US" sz="225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反向查詢</a:t>
            </a:r>
            <a:endParaRPr lang="en-US" sz="2250" dirty="0"/>
          </a:p>
        </p:txBody>
      </p:sp>
      <p:sp>
        <p:nvSpPr>
          <p:cNvPr id="17" name="Text 15"/>
          <p:cNvSpPr/>
          <p:nvPr/>
        </p:nvSpPr>
        <p:spPr>
          <a:xfrm>
            <a:off x="9677400" y="4162227"/>
            <a:ext cx="7789736" cy="6875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605"/>
              </a:lnSpc>
              <a:buNone/>
            </a:pPr>
            <a:r>
              <a:rPr lang="en-US" sz="16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ListUsers(object: subnet:10.0.0.0/24, relation: writer) → 回傳具有 writer 關係的 users / groups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9677400" y="4868863"/>
            <a:ext cx="7789736" cy="6875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605"/>
              </a:lnSpc>
              <a:buNone/>
            </a:pPr>
            <a:r>
              <a:rPr lang="en-US" sz="16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ListObjects(user: alice, relation: writer, type: subnet) → 列出 alice 可以寫入的所有 subnet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9677400" y="5670749"/>
            <a:ext cx="8319135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135"/>
              </a:lnSpc>
              <a:buNone/>
            </a:pPr>
            <a:r>
              <a:rPr lang="en-US" sz="225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授權粒度</a:t>
            </a:r>
            <a:endParaRPr lang="en-US" sz="2250" dirty="0"/>
          </a:p>
        </p:txBody>
      </p:sp>
      <p:sp>
        <p:nvSpPr>
          <p:cNvPr id="20" name="Text 18"/>
          <p:cNvSpPr/>
          <p:nvPr/>
        </p:nvSpPr>
        <p:spPr>
          <a:xfrm>
            <a:off x="9677400" y="6189861"/>
            <a:ext cx="8319135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135"/>
              </a:lnSpc>
              <a:buNone/>
            </a:pPr>
            <a:r>
              <a:rPr lang="en-US" sz="22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可以同時支援：</a:t>
            </a:r>
            <a:endParaRPr lang="en-US" sz="2250" dirty="0"/>
          </a:p>
        </p:txBody>
      </p:sp>
      <p:sp>
        <p:nvSpPr>
          <p:cNvPr id="21" name="Text 19"/>
          <p:cNvSpPr/>
          <p:nvPr/>
        </p:nvSpPr>
        <p:spPr>
          <a:xfrm>
            <a:off x="9677400" y="6728024"/>
            <a:ext cx="8319135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605"/>
              </a:lnSpc>
              <a:buNone/>
            </a:pPr>
            <a:r>
              <a:rPr lang="en-US" sz="16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→ Subnet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9677400" y="7109917"/>
            <a:ext cx="8319135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605"/>
              </a:lnSpc>
              <a:buNone/>
            </a:pPr>
            <a:r>
              <a:rPr lang="en-US" sz="16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→ Group → Subnet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9677400" y="7529910"/>
            <a:ext cx="8319135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135"/>
              </a:lnSpc>
              <a:buNone/>
            </a:pPr>
            <a:r>
              <a:rPr lang="en-US" sz="22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單人授權不一定需要再建立一個只有自己的 group。</a:t>
            </a:r>
            <a:endParaRPr lang="en-US" sz="2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3F2F2"/>
          </a:solidFill>
          <a:ln/>
        </p:spPr>
      </p:sp>
      <p:sp>
        <p:nvSpPr>
          <p:cNvPr id="3" name="Text 1"/>
          <p:cNvSpPr/>
          <p:nvPr/>
        </p:nvSpPr>
        <p:spPr>
          <a:xfrm>
            <a:off x="1047750" y="952500"/>
            <a:ext cx="17811750" cy="3924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b="1" spc="144" kern="0" dirty="0">
                <a:solidFill>
                  <a:srgbClr val="AE1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AI 工具能幫上忙嗎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47750" y="1459210"/>
            <a:ext cx="17811750" cy="5928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3900" b="1" spc="-58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如果 AI 工具要協助設計更複雜的 Authorization Model？</a:t>
            </a:r>
            <a:endParaRPr lang="en-US" sz="3900" dirty="0"/>
          </a:p>
        </p:txBody>
      </p:sp>
      <p:sp>
        <p:nvSpPr>
          <p:cNvPr id="5" name="Text 3"/>
          <p:cNvSpPr/>
          <p:nvPr/>
        </p:nvSpPr>
        <p:spPr>
          <a:xfrm>
            <a:off x="1047750" y="2204442"/>
            <a:ext cx="1781175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808"/>
              </a:lnSpc>
              <a:buNone/>
            </a:pPr>
            <a:r>
              <a:rPr lang="en-US" sz="22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如果未來 IPAM 的 Authorization Model 越來越複雜，AI 工具能不能協助我們設計、理解與 review 授權規則？</a:t>
            </a:r>
            <a:endParaRPr lang="en-US" sz="2250" dirty="0"/>
          </a:p>
        </p:txBody>
      </p:sp>
      <p:sp>
        <p:nvSpPr>
          <p:cNvPr id="6" name="Shape 4"/>
          <p:cNvSpPr/>
          <p:nvPr/>
        </p:nvSpPr>
        <p:spPr>
          <a:xfrm>
            <a:off x="1047750" y="3090267"/>
            <a:ext cx="161925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047750" y="3379192"/>
            <a:ext cx="1857673" cy="232172"/>
          </a:xfrm>
          <a:prstGeom prst="rect">
            <a:avLst/>
          </a:prstGeom>
          <a:ln w="6350">
            <a:solidFill>
              <a:srgbClr val="EC301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49350" y="3414117"/>
            <a:ext cx="1730673" cy="2004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4605"/>
              </a:lnSpc>
              <a:buNone/>
            </a:pPr>
            <a:r>
              <a:rPr lang="en-US" sz="825" spc="17" kern="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OpenFGA 官方提供的 MCP Server</a:t>
            </a:r>
            <a:endParaRPr lang="en-US" sz="825" dirty="0"/>
          </a:p>
        </p:txBody>
      </p:sp>
      <p:sp>
        <p:nvSpPr>
          <p:cNvPr id="9" name="Shape 7"/>
          <p:cNvSpPr/>
          <p:nvPr/>
        </p:nvSpPr>
        <p:spPr>
          <a:xfrm>
            <a:off x="1047750" y="3763764"/>
            <a:ext cx="16192500" cy="614363"/>
          </a:xfrm>
          <a:prstGeom prst="rect">
            <a:avLst/>
          </a:prstGeom>
          <a:solidFill>
            <a:srgbClr val="2D2B2B"/>
          </a:solidFill>
          <a:ln/>
        </p:spPr>
      </p:sp>
      <p:sp>
        <p:nvSpPr>
          <p:cNvPr id="10" name="Text 8"/>
          <p:cNvSpPr/>
          <p:nvPr/>
        </p:nvSpPr>
        <p:spPr>
          <a:xfrm>
            <a:off x="1276350" y="3935214"/>
            <a:ext cx="16221075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545"/>
              </a:lnSpc>
              <a:buNone/>
            </a:pPr>
            <a:r>
              <a:rPr lang="en-US" sz="1425" dirty="0">
                <a:solidFill>
                  <a:srgbClr val="F8F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 mcp add --transport http openfga-mcp https://mcp.openfga.dev/mcp</a:t>
            </a:r>
            <a:endParaRPr lang="en-US" sz="1425" dirty="0"/>
          </a:p>
        </p:txBody>
      </p:sp>
      <p:sp>
        <p:nvSpPr>
          <p:cNvPr id="11" name="Text 9"/>
          <p:cNvSpPr/>
          <p:nvPr/>
        </p:nvSpPr>
        <p:spPr>
          <a:xfrm>
            <a:off x="848097" y="5939135"/>
            <a:ext cx="4392364" cy="4218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37386"/>
              </a:lnSpc>
              <a:buNone/>
            </a:pPr>
            <a:r>
              <a:rPr lang="en-US" sz="195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Input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987854" y="6418163"/>
            <a:ext cx="411285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8571"/>
              </a:lnSpc>
              <a:buNone/>
            </a:pPr>
            <a:r>
              <a:rPr lang="en-US" sz="1800" dirty="0">
                <a:solidFill>
                  <a:srgbClr val="60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Developer types a prompt in Coding Agent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174159" y="6300093"/>
            <a:ext cx="361950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135"/>
              </a:lnSpc>
              <a:buNone/>
            </a:pPr>
            <a:r>
              <a:rPr lang="en-US" sz="2250" dirty="0">
                <a:solidFill>
                  <a:srgbClr val="60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5393606" y="6110585"/>
            <a:ext cx="4392364" cy="4218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37386"/>
              </a:lnSpc>
              <a:buNone/>
            </a:pPr>
            <a:r>
              <a:rPr lang="en-US" sz="195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5393606" y="6589613"/>
            <a:ext cx="4392364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8571"/>
              </a:lnSpc>
              <a:buNone/>
            </a:pPr>
            <a:r>
              <a:rPr lang="en-US" sz="1800" dirty="0">
                <a:solidFill>
                  <a:srgbClr val="60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Provides modeling knowledge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48097" y="7446863"/>
            <a:ext cx="4392364" cy="4218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37386"/>
              </a:lnSpc>
              <a:buNone/>
            </a:pPr>
            <a:r>
              <a:rPr lang="en-US" sz="195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Generation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848097" y="7925892"/>
            <a:ext cx="4392364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8571"/>
              </a:lnSpc>
              <a:buNone/>
            </a:pPr>
            <a:r>
              <a:rPr lang="en-US" sz="1800" dirty="0">
                <a:solidFill>
                  <a:srgbClr val="60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generates／revises the DSL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174159" y="7636371"/>
            <a:ext cx="361950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135"/>
              </a:lnSpc>
              <a:buNone/>
            </a:pPr>
            <a:r>
              <a:rPr lang="en-US" sz="2250" dirty="0">
                <a:solidFill>
                  <a:srgbClr val="60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50" dirty="0"/>
          </a:p>
        </p:txBody>
      </p:sp>
      <p:sp>
        <p:nvSpPr>
          <p:cNvPr id="19" name="Text 17"/>
          <p:cNvSpPr/>
          <p:nvPr/>
        </p:nvSpPr>
        <p:spPr>
          <a:xfrm>
            <a:off x="5393606" y="7446863"/>
            <a:ext cx="4392364" cy="4218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37386"/>
              </a:lnSpc>
              <a:buNone/>
            </a:pPr>
            <a:r>
              <a:rPr lang="en-US" sz="195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5393606" y="7925892"/>
            <a:ext cx="4392364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8571"/>
              </a:lnSpc>
              <a:buNone/>
            </a:pPr>
            <a:r>
              <a:rPr lang="en-US" sz="1800" dirty="0">
                <a:solidFill>
                  <a:srgbClr val="60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OpenFGA CLI validates the model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10119717" y="4682927"/>
            <a:ext cx="19050" cy="4842074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0672167" y="5591969"/>
            <a:ext cx="6568083" cy="219472"/>
          </a:xfrm>
          <a:prstGeom prst="rect">
            <a:avLst/>
          </a:prstGeom>
          <a:solidFill>
            <a:srgbClr val="FFF2EF"/>
          </a:solidFill>
          <a:ln/>
        </p:spPr>
      </p:sp>
      <p:sp>
        <p:nvSpPr>
          <p:cNvPr id="23" name="Text 21"/>
          <p:cNvSpPr/>
          <p:nvPr/>
        </p:nvSpPr>
        <p:spPr>
          <a:xfrm>
            <a:off x="10767417" y="5620544"/>
            <a:ext cx="6574625" cy="2004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4605"/>
              </a:lnSpc>
              <a:buNone/>
            </a:pPr>
            <a:r>
              <a:rPr lang="en-US" sz="825" spc="17" kern="0" dirty="0">
                <a:solidFill>
                  <a:srgbClr val="7C14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實際例子</a:t>
            </a:r>
            <a:endParaRPr lang="en-US" sz="825" dirty="0"/>
          </a:p>
        </p:txBody>
      </p:sp>
      <p:sp>
        <p:nvSpPr>
          <p:cNvPr id="24" name="Text 22"/>
          <p:cNvSpPr/>
          <p:nvPr/>
        </p:nvSpPr>
        <p:spPr>
          <a:xfrm>
            <a:off x="10672167" y="5963841"/>
            <a:ext cx="7224891" cy="3924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dirty="0">
                <a:solidFill>
                  <a:srgbClr val="60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Developer："Use OpenFGA-mcp tool to help improve the model"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10672167" y="6470551"/>
            <a:ext cx="3284041" cy="1095673"/>
          </a:xfrm>
          <a:prstGeom prst="rect">
            <a:avLst/>
          </a:prstGeom>
          <a:solidFill>
            <a:srgbClr val="2D2B2B"/>
          </a:solidFill>
          <a:ln/>
        </p:spPr>
      </p:sp>
      <p:sp>
        <p:nvSpPr>
          <p:cNvPr id="26" name="Text 24"/>
          <p:cNvSpPr/>
          <p:nvPr/>
        </p:nvSpPr>
        <p:spPr>
          <a:xfrm>
            <a:off x="10843617" y="6603901"/>
            <a:ext cx="3235256" cy="2890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293"/>
              </a:lnSpc>
              <a:buNone/>
            </a:pPr>
            <a:r>
              <a:rPr lang="en-US" sz="1275" dirty="0">
                <a:solidFill>
                  <a:srgbClr val="F8F4F4">
                    <a:alpha val="6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原本</a:t>
            </a:r>
            <a:endParaRPr lang="en-US" sz="1275" dirty="0"/>
          </a:p>
        </p:txBody>
      </p:sp>
      <p:sp>
        <p:nvSpPr>
          <p:cNvPr id="27" name="Text 25"/>
          <p:cNvSpPr/>
          <p:nvPr/>
        </p:nvSpPr>
        <p:spPr>
          <a:xfrm>
            <a:off x="10843617" y="6962775"/>
            <a:ext cx="2311202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6293"/>
              </a:lnSpc>
              <a:buNone/>
            </a:pPr>
            <a:r>
              <a:rPr lang="en-US" sz="1275" dirty="0">
                <a:solidFill>
                  <a:srgbClr val="F8F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define can_edit: editor</a:t>
            </a:r>
            <a:endParaRPr lang="en-US" sz="1275" dirty="0"/>
          </a:p>
        </p:txBody>
      </p:sp>
      <p:sp>
        <p:nvSpPr>
          <p:cNvPr id="28" name="Shape 26"/>
          <p:cNvSpPr/>
          <p:nvPr/>
        </p:nvSpPr>
        <p:spPr>
          <a:xfrm>
            <a:off x="13956209" y="6470551"/>
            <a:ext cx="3284041" cy="1095673"/>
          </a:xfrm>
          <a:prstGeom prst="rect">
            <a:avLst/>
          </a:prstGeom>
          <a:solidFill>
            <a:srgbClr val="2D2B2B"/>
          </a:solidFill>
          <a:ln/>
        </p:spPr>
      </p:sp>
      <p:sp>
        <p:nvSpPr>
          <p:cNvPr id="29" name="Shape 27"/>
          <p:cNvSpPr/>
          <p:nvPr/>
        </p:nvSpPr>
        <p:spPr>
          <a:xfrm>
            <a:off x="13956209" y="6470551"/>
            <a:ext cx="19050" cy="1095673"/>
          </a:xfrm>
          <a:prstGeom prst="rect">
            <a:avLst/>
          </a:prstGeom>
          <a:solidFill>
            <a:srgbClr val="EC3013"/>
          </a:solidFill>
          <a:ln/>
        </p:spPr>
      </p:sp>
      <p:sp>
        <p:nvSpPr>
          <p:cNvPr id="30" name="Text 28"/>
          <p:cNvSpPr/>
          <p:nvPr/>
        </p:nvSpPr>
        <p:spPr>
          <a:xfrm>
            <a:off x="14146709" y="6603901"/>
            <a:ext cx="3214301" cy="2890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293"/>
              </a:lnSpc>
              <a:buNone/>
            </a:pPr>
            <a:r>
              <a:rPr lang="en-US" sz="1275" dirty="0">
                <a:solidFill>
                  <a:srgbClr val="EC3013">
                    <a:alpha val="9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改善後</a:t>
            </a:r>
            <a:endParaRPr lang="en-US" sz="1275" dirty="0"/>
          </a:p>
        </p:txBody>
      </p:sp>
      <p:sp>
        <p:nvSpPr>
          <p:cNvPr id="31" name="Text 29"/>
          <p:cNvSpPr/>
          <p:nvPr/>
        </p:nvSpPr>
        <p:spPr>
          <a:xfrm>
            <a:off x="14146709" y="6962775"/>
            <a:ext cx="2602706" cy="473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6293"/>
              </a:lnSpc>
              <a:buNone/>
            </a:pPr>
            <a:r>
              <a:rPr lang="en-US" sz="1275" dirty="0">
                <a:solidFill>
                  <a:srgbClr val="F8F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define can_edit: editor or delegate</a:t>
            </a:r>
            <a:endParaRPr lang="en-US" sz="1275" dirty="0"/>
          </a:p>
        </p:txBody>
      </p:sp>
      <p:sp>
        <p:nvSpPr>
          <p:cNvPr id="32" name="Text 30"/>
          <p:cNvSpPr/>
          <p:nvPr/>
        </p:nvSpPr>
        <p:spPr>
          <a:xfrm>
            <a:off x="10672167" y="7718624"/>
            <a:ext cx="7224891" cy="3924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dirty="0">
                <a:solidFill>
                  <a:srgbClr val="60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App：Check(user, "can_edit", document) —— 完全不變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10672167" y="8187234"/>
            <a:ext cx="7224891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808"/>
              </a:lnSpc>
              <a:buNone/>
            </a:pPr>
            <a:r>
              <a:rPr lang="en-US" sz="225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 changed, but your code did not change.</a:t>
            </a:r>
            <a:endParaRPr lang="en-US" sz="2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3F2F2"/>
          </a:solidFill>
          <a:ln/>
        </p:spPr>
      </p:sp>
      <p:sp>
        <p:nvSpPr>
          <p:cNvPr id="3" name="Text 1"/>
          <p:cNvSpPr/>
          <p:nvPr/>
        </p:nvSpPr>
        <p:spPr>
          <a:xfrm>
            <a:off x="1047750" y="952500"/>
            <a:ext cx="17811750" cy="3924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b="1" spc="144" kern="0" dirty="0">
                <a:solidFill>
                  <a:srgbClr val="AE1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總結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47750" y="1459210"/>
            <a:ext cx="17811750" cy="5928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3900" b="1" spc="-58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值得記住的觀察</a:t>
            </a:r>
            <a:endParaRPr lang="en-US" sz="3900" dirty="0"/>
          </a:p>
        </p:txBody>
      </p:sp>
      <p:sp>
        <p:nvSpPr>
          <p:cNvPr id="5" name="Shape 3"/>
          <p:cNvSpPr/>
          <p:nvPr/>
        </p:nvSpPr>
        <p:spPr>
          <a:xfrm>
            <a:off x="1047750" y="6845995"/>
            <a:ext cx="161925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047750" y="4540548"/>
            <a:ext cx="161925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047750" y="4912023"/>
            <a:ext cx="618034" cy="219472"/>
          </a:xfrm>
          <a:prstGeom prst="rect">
            <a:avLst/>
          </a:prstGeom>
          <a:solidFill>
            <a:srgbClr val="FFF2EF"/>
          </a:solidFill>
          <a:ln/>
        </p:spPr>
      </p:sp>
      <p:sp>
        <p:nvSpPr>
          <p:cNvPr id="8" name="Text 6"/>
          <p:cNvSpPr/>
          <p:nvPr/>
        </p:nvSpPr>
        <p:spPr>
          <a:xfrm>
            <a:off x="1143000" y="4940598"/>
            <a:ext cx="503734" cy="2004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4605"/>
              </a:lnSpc>
              <a:buNone/>
            </a:pPr>
            <a:r>
              <a:rPr lang="en-US" sz="825" spc="17" kern="0" dirty="0">
                <a:solidFill>
                  <a:srgbClr val="7C14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授權模型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1047750" y="5283895"/>
            <a:ext cx="16678275" cy="1257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9130"/>
              </a:lnSpc>
              <a:buNone/>
            </a:pPr>
            <a:r>
              <a:rPr lang="en-US" sz="300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ReBAC 提供了另一種表達授權關係的方式。資料驅動、可以反向查詢，授權粒度也可以細到單一 resource，這跟我們目前以 group 為基本單位的設計，是不同的思路。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1047750" y="8934450"/>
            <a:ext cx="17811750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783"/>
              </a:lnSpc>
              <a:buNone/>
            </a:pPr>
            <a:r>
              <a:rPr lang="en-US" sz="300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謝謝大家，歡迎討論、有問題儘管問！</a:t>
            </a:r>
            <a:endParaRPr lang="en-US" sz="3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2026-08-08T10:20:57Z</dcterms:created>
  <dcterms:modified xsi:type="dcterms:W3CDTF">2026-08-08T10:20:57Z</dcterms:modified>
</cp:coreProperties>
</file>