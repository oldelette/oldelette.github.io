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Alexandria"/>
      <p:regular r:id="rId201314"/>
    </p:embeddedFont>
    <p:embeddedFont>
      <p:font typeface="Alexandria Medium"/>
      <p:regular r:id="rId201315"/>
    </p:embeddedFont>
    <p:embeddedFont>
      <p:font typeface="Alexandria Bold"/>
      <p:regular r:id="rId201316"/>
    </p:embeddedFont>
    <p:embeddedFont>
      <p:font typeface="Manrope"/>
      <p:regular r:id="rId201317"/>
    </p:embeddedFont>
    <p:embeddedFont>
      <p:font typeface="Manrope Medium"/>
      <p:regular r:id="rId201318"/>
    </p:embeddedFont>
    <p:embeddedFont>
      <p:font typeface="Manrop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4310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從 Group 中間層到 ReBAC</a:t>
            </a:r>
            <a:endParaRPr lang="zh-CN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868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IPAM 系統權限模型的演進 — 15 分鐘技術分享</a:t>
            </a:r>
            <a:endParaRPr lang="zh-CN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84971"/>
            <a:ext cx="669280" cy="215354"/>
          </a:xfrm>
          <a:prstGeom prst="roundRect">
            <a:avLst>
              <a:gd name="adj" fmla="val 50000"/>
            </a:avLst>
          </a:prstGeom>
          <a:solidFill>
            <a:srgbClr val="CDEFFE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027462"/>
            <a:ext cx="95637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OPENFGA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236241" y="2984971"/>
            <a:ext cx="526331" cy="21535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21296" y="3027462"/>
            <a:ext cx="81342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REBAC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33414" y="2984971"/>
            <a:ext cx="426467" cy="21535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18469" y="3027462"/>
            <a:ext cx="71355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IPAM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90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現有架構速覽</a:t>
            </a:r>
            <a:endParaRPr lang="zh-CN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0869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認證層（30 秒帶過）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411039"/>
            <a:ext cx="3924598" cy="41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User：TSSO JWT → Token Exchange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 Account：Client Credentials Flow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1918692"/>
            <a:ext cx="438179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只回答「這次呼叫的人是誰」，與授權無關。</a:t>
            </a:r>
            <a:endParaRPr lang="zh-CN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10869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授權兩層架構</a:t>
            </a:r>
            <a:endParaRPr lang="zh-CN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8046" y="1424583"/>
            <a:ext cx="1908051" cy="3146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23458" y="1562844"/>
            <a:ext cx="15743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API 層級（RBAC）</a:t>
            </a:r>
            <a:endParaRPr lang="zh-CN" sz="1200" dirty="0"/>
          </a:p>
        </p:txBody>
      </p:sp>
      <p:sp>
        <p:nvSpPr>
          <p:cNvPr id="9" name="Text 6"/>
          <p:cNvSpPr/>
          <p:nvPr/>
        </p:nvSpPr>
        <p:spPr>
          <a:xfrm>
            <a:off x="4923458" y="1865188"/>
            <a:ext cx="157437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User/SA → Role → Role_Scope → Scope，決定能打哪些 API</a:t>
            </a:r>
            <a:endParaRPr lang="zh-CN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4593" y="1424583"/>
            <a:ext cx="1908051" cy="3146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0004" y="1562844"/>
            <a:ext cx="15743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資源層級</a:t>
            </a:r>
            <a:endParaRPr lang="zh-CN" sz="1200" dirty="0"/>
          </a:p>
        </p:txBody>
      </p:sp>
      <p:sp>
        <p:nvSpPr>
          <p:cNvPr id="12" name="Text 8"/>
          <p:cNvSpPr/>
          <p:nvPr/>
        </p:nvSpPr>
        <p:spPr>
          <a:xfrm>
            <a:off x="6940004" y="1865188"/>
            <a:ext cx="1574378" cy="168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zh-CN" alt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</a:t>
            </a:r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zh-CN" alt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↔</a:t>
            </a:r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zh-CN" alt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groups </a:t>
            </a:r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zh-CN" alt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↔</a:t>
            </a:r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zh-CN" alt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subnet/section，決定能不能動具體資源</a:t>
            </a:r>
            <a:endParaRPr lang="zh-CN" sz="950" dirty="0"/>
          </a:p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zh-CN" alt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只要 user 是 group 的 member，就能操作該 group 掛的 subnet 和 section。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授權關係：</a:t>
            </a:r>
            <a:endParaRPr lang="zh-CN" sz="950" dirty="0"/>
          </a:p>
        </p:txBody>
      </p:sp>
      <p:sp>
        <p:nvSpPr>
          <p:cNvPr id="13" name="Text 9"/>
          <p:cNvSpPr/>
          <p:nvPr/>
        </p:nvSpPr>
        <p:spPr>
          <a:xfrm>
            <a:off x="6940004" y="3651126"/>
            <a:ext cx="1574378" cy="78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groups_subnet table：group 與 subnet 的關聯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groups_section table：group 與 section 的關聯</a:t>
            </a:r>
            <a:endParaRPr lang="zh-CN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518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核心限制：Group 是強制中間層</a:t>
            </a:r>
            <a:endParaRPr lang="zh-CN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76610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權限</a:t>
            </a:r>
            <a:pPr algn="l" indent="0" marL="0">
              <a:lnSpc>
                <a:spcPct val="121000"/>
              </a:lnSpc>
              <a:buNone/>
            </a:pPr>
            <a:r>
              <a:rPr lang="zh-CN" alt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一定要</a:t>
            </a:r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透過 group，無法直接把 subnet 或 IP 授權給單一 user。</a:t>
            </a:r>
            <a:endParaRPr lang="zh-CN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354038"/>
            <a:ext cx="2248793" cy="847204"/>
          </a:xfrm>
          <a:prstGeom prst="roundRect">
            <a:avLst>
              <a:gd name="adj" fmla="val 20394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6000" y="1473919"/>
            <a:ext cx="200903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情境</a:t>
            </a:r>
            <a:endParaRPr lang="zh-CN" sz="1100" dirty="0"/>
          </a:p>
        </p:txBody>
      </p:sp>
      <p:sp>
        <p:nvSpPr>
          <p:cNvPr id="6" name="Text 4"/>
          <p:cNvSpPr/>
          <p:nvPr/>
        </p:nvSpPr>
        <p:spPr>
          <a:xfrm>
            <a:off x="616000" y="1747391"/>
            <a:ext cx="200903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稽核人員需暫時存取非所屬部門的 subnet，僅他一人需要。</a:t>
            </a:r>
            <a:endParaRPr lang="zh-CN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2294781"/>
            <a:ext cx="2248793" cy="847204"/>
          </a:xfrm>
          <a:prstGeom prst="roundRect">
            <a:avLst>
              <a:gd name="adj" fmla="val 20394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6000" y="2414662"/>
            <a:ext cx="200903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現有解法</a:t>
            </a:r>
            <a:endParaRPr lang="zh-CN" sz="1100" dirty="0"/>
          </a:p>
        </p:txBody>
      </p:sp>
      <p:sp>
        <p:nvSpPr>
          <p:cNvPr id="9" name="Text 7"/>
          <p:cNvSpPr/>
          <p:nvPr/>
        </p:nvSpPr>
        <p:spPr>
          <a:xfrm>
            <a:off x="616000" y="2688134"/>
            <a:ext cx="200903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生一個只放這一個 user 的 group，再掛到 subnet。</a:t>
            </a:r>
            <a:endParaRPr lang="zh-CN" sz="900" dirty="0"/>
          </a:p>
        </p:txBody>
      </p:sp>
      <p:sp>
        <p:nvSpPr>
          <p:cNvPr id="10" name="Text 8"/>
          <p:cNvSpPr/>
          <p:nvPr/>
        </p:nvSpPr>
        <p:spPr>
          <a:xfrm>
            <a:off x="3030662" y="1342355"/>
            <a:ext cx="562190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由此衍生的七大問題</a:t>
            </a:r>
            <a:endParaRPr lang="zh-CN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30662" y="1627510"/>
            <a:ext cx="2764185" cy="298125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17218" y="1756916"/>
            <a:ext cx="244822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架構層面</a:t>
            </a:r>
            <a:endParaRPr lang="zh-CN" sz="1100" dirty="0"/>
          </a:p>
        </p:txBody>
      </p:sp>
      <p:sp>
        <p:nvSpPr>
          <p:cNvPr id="13" name="Text 10"/>
          <p:cNvSpPr/>
          <p:nvPr/>
        </p:nvSpPr>
        <p:spPr>
          <a:xfrm>
            <a:off x="3217218" y="2030388"/>
            <a:ext cx="2448223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殼 group 越生越多，稽核時看不出意義</a:t>
            </a:r>
            <a:endParaRPr lang="zh-CN" sz="900" dirty="0"/>
          </a:p>
          <a:p>
            <a:pPr algn="l" marL="182880" indent="-18288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 代理鏈導致 SQL 複雜度爆炸</a:t>
            </a:r>
            <a:endParaRPr lang="zh-CN" sz="900" dirty="0"/>
          </a:p>
          <a:p>
            <a:pPr algn="l" marL="182880" indent="-18288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權限與群組結構綁死，無法直接表達人與資源的關係</a:t>
            </a:r>
            <a:endParaRPr lang="zh-CN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8385" y="1627510"/>
            <a:ext cx="2764185" cy="29812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74941" y="1756916"/>
            <a:ext cx="2448223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臨時授權的痛點（以稽核人員暫時存取為例）</a:t>
            </a:r>
            <a:endParaRPr lang="zh-CN" sz="1100" dirty="0"/>
          </a:p>
        </p:txBody>
      </p:sp>
      <p:sp>
        <p:nvSpPr>
          <p:cNvPr id="16" name="Text 12"/>
          <p:cNvSpPr/>
          <p:nvPr/>
        </p:nvSpPr>
        <p:spPr>
          <a:xfrm>
            <a:off x="6074941" y="2210321"/>
            <a:ext cx="2448223" cy="2269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沒有生命週期管理，容易變成殭屍權限 — 「暫時」在現有模型裡完全沒有結構性表達，任務結束後殼 group 通常沒人記得刪掉</a:t>
            </a:r>
            <a:endParaRPr lang="zh-CN" sz="900" dirty="0"/>
          </a:p>
          <a:p>
            <a:pPr algn="l" marL="182880" indent="-18288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組織結構跟臨時授權混在同一張表，語意被污染 — </a:t>
            </a:r>
            <a:pPr algn="l" marL="182880" indent="-18288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zh-CN" altLang="en-US" sz="9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groups_subnet</a:t>
            </a:r>
            <a:pPr algn="l" marL="182880" indent="-18288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無法區分「真實部門」和「一次性存取」，只能靠命名慣例硬撐</a:t>
            </a:r>
            <a:endParaRPr lang="zh-CN" sz="900" dirty="0"/>
          </a:p>
          <a:p>
            <a:pPr algn="l" marL="182880" indent="-18288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權限衝突時的判定規則不明確 — 稽核人員同時屬於部門 group 和臨時 group 時，SQL join 怎麼處理衝突（聯集、交集、還是覆蓋）從未被正式定義</a:t>
            </a:r>
            <a:endParaRPr lang="zh-CN" sz="900" dirty="0"/>
          </a:p>
          <a:p>
            <a:pPr algn="l" marL="182880" indent="-18288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zh-CN" alt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建群組是人工流程，拖慢緊急情境的時效性 — 「生一個新 group」需要人工介入，與臨時性存取的本質衝突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50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ReBAC DSL 如何解掉這個限制</a:t>
            </a:r>
            <a:endParaRPr lang="zh-CN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485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OpenFGA DSL 核心</a:t>
            </a:r>
            <a:endParaRPr lang="zh-CN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85776"/>
            <a:ext cx="3902943" cy="1417588"/>
          </a:xfrm>
          <a:prstGeom prst="roundRect">
            <a:avLst>
              <a:gd name="adj" fmla="val 1500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66229" y="1827535"/>
            <a:ext cx="35627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subnet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owner: [user, group#member]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can_write: owner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can_read: owner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26283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同一個 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關係，允許兩種授權對象：</a:t>
            </a:r>
            <a:endParaRPr lang="zh-CN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617193"/>
            <a:ext cx="3902943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部門授權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：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subnet:10.0.0.0/8#owner@group:ISED-01#member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個人授權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：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subnet:10.0.0.0/8#owner@user:alice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30485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同時解決</a:t>
            </a:r>
            <a:endParaRPr lang="zh-CN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2832" y="1690167"/>
            <a:ext cx="212601" cy="2126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0398" y="1685776"/>
            <a:ext cx="34422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不再需要殼 group</a:t>
            </a:r>
            <a:endParaRPr lang="zh-CN" sz="1350" dirty="0"/>
          </a:p>
        </p:txBody>
      </p:sp>
      <p:sp>
        <p:nvSpPr>
          <p:cNvPr id="11" name="Text 8"/>
          <p:cNvSpPr/>
          <p:nvPr/>
        </p:nvSpPr>
        <p:spPr>
          <a:xfrm>
            <a:off x="5210398" y="2048991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直接授權給單一 user，無需繞過 group。</a:t>
            </a:r>
            <a:endParaRPr lang="zh-CN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2563713"/>
            <a:ext cx="212601" cy="2126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0398" y="2559323"/>
            <a:ext cx="34422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引擎自動判斷路徑</a:t>
            </a:r>
            <a:endParaRPr lang="zh-CN" sz="1350" dirty="0"/>
          </a:p>
        </p:txBody>
      </p:sp>
      <p:sp>
        <p:nvSpPr>
          <p:cNvPr id="14" name="Text 10"/>
          <p:cNvSpPr/>
          <p:nvPr/>
        </p:nvSpPr>
        <p:spPr>
          <a:xfrm>
            <a:off x="5210398" y="2922538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Check(alice, can_write, subnet)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同時查直接授權與群組繼承。</a:t>
            </a:r>
            <a:endParaRPr lang="zh-CN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2832" y="3664074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0398" y="3659684"/>
            <a:ext cx="34422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語意清晰化</a:t>
            </a:r>
            <a:endParaRPr lang="zh-CN" sz="1350" dirty="0"/>
          </a:p>
        </p:txBody>
      </p:sp>
      <p:sp>
        <p:nvSpPr>
          <p:cNvPr id="17" name="Text 12"/>
          <p:cNvSpPr/>
          <p:nvPr/>
        </p:nvSpPr>
        <p:spPr>
          <a:xfrm>
            <a:off x="5210398" y="402289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與 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manager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拆為獨立 relation，取代模糊的 boolean 欄位。</a:t>
            </a:r>
            <a:endParaRPr lang="zh-CN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918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ReBAC 如何解決臨時授權的生命週期問題</a:t>
            </a:r>
            <a:endParaRPr lang="zh-CN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852487"/>
            <a:ext cx="8151763" cy="35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回顧痛點：沒有生命週期管理，容易變成殭屍權限</a:t>
            </a:r>
            <a:endParaRPr lang="zh-CN" sz="7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稽核人員任務結束後，殼 group 通常沒人記得刪掉，權限就一直掛著。「暫時」這個詞在現有模型裡完全沒有結構性的表達方式。</a:t>
            </a:r>
            <a:endParaRPr lang="zh-CN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07976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OpenFGA 的 Condition 機制：原生支援時間限制</a:t>
            </a:r>
            <a:endParaRPr lang="zh-CN" sz="1550" dirty="0"/>
          </a:p>
        </p:txBody>
      </p:sp>
      <p:sp>
        <p:nvSpPr>
          <p:cNvPr id="5" name="Shape 3"/>
          <p:cNvSpPr/>
          <p:nvPr/>
        </p:nvSpPr>
        <p:spPr>
          <a:xfrm>
            <a:off x="496119" y="1662187"/>
            <a:ext cx="8151763" cy="837456"/>
          </a:xfrm>
          <a:prstGeom prst="roundRect">
            <a:avLst>
              <a:gd name="adj" fmla="val 1785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15702" y="1761827"/>
            <a:ext cx="791259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subnet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viewer: [user, group#member] with condition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can_read: viewer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6119" y="2578447"/>
            <a:ext cx="86089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授權寫法：</a:t>
            </a:r>
            <a:endParaRPr lang="zh-CN" sz="750" dirty="0"/>
          </a:p>
        </p:txBody>
      </p:sp>
      <p:sp>
        <p:nvSpPr>
          <p:cNvPr id="8" name="Shape 6"/>
          <p:cNvSpPr/>
          <p:nvPr/>
        </p:nvSpPr>
        <p:spPr>
          <a:xfrm>
            <a:off x="496119" y="2793057"/>
            <a:ext cx="8151763" cy="518368"/>
          </a:xfrm>
          <a:prstGeom prst="roundRect">
            <a:avLst>
              <a:gd name="adj" fmla="val 2884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15702" y="2892698"/>
            <a:ext cx="7912596" cy="31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subnet:10.0.0.0/8#viewer@user:auditor_bob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expires_at &lt; now()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6119" y="3416498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核心優勢</a:t>
            </a:r>
            <a:endParaRPr lang="zh-CN" sz="1550" dirty="0"/>
          </a:p>
        </p:txBody>
      </p:sp>
      <p:sp>
        <p:nvSpPr>
          <p:cNvPr id="11" name="Text 9"/>
          <p:cNvSpPr/>
          <p:nvPr/>
        </p:nvSpPr>
        <p:spPr>
          <a:xfrm>
            <a:off x="496119" y="3840733"/>
            <a:ext cx="39542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現有系統：</a:t>
            </a:r>
            <a:endParaRPr lang="zh-CN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4066431"/>
            <a:ext cx="3954289" cy="4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「暫時」只是人的記憶，沒有技術保障</a:t>
            </a:r>
            <a:endParaRPr lang="zh-CN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需要人工流程定期清理過期權限</a:t>
            </a:r>
            <a:endParaRPr lang="zh-CN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容易遺漏，變成安全風險</a:t>
            </a:r>
            <a:endParaRPr lang="zh-CN" sz="750" dirty="0"/>
          </a:p>
        </p:txBody>
      </p:sp>
      <p:sp>
        <p:nvSpPr>
          <p:cNvPr id="13" name="Text 11"/>
          <p:cNvSpPr/>
          <p:nvPr/>
        </p:nvSpPr>
        <p:spPr>
          <a:xfrm>
            <a:off x="4698355" y="3840733"/>
            <a:ext cx="39542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ReBAC with Condition：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8355" y="4066431"/>
            <a:ext cx="3954289" cy="616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授權本身就帶著「什麼時候該失效」的語意</a:t>
            </a:r>
            <a:endParaRPr lang="zh-CN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引擎在 Check 時自動評估 condition，過期自動拒絕</a:t>
            </a:r>
            <a:endParaRPr lang="zh-CN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不需要人記得回來刪除，也不需要定期清理任務</a:t>
            </a:r>
            <a:endParaRPr lang="zh-CN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權限的生命週期被明確定義和強制執行</a:t>
            </a:r>
            <a:endParaRPr lang="zh-CN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129"/>
            <a:ext cx="8151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ReBAC 如何輕鬆應對權限代理鏈</a:t>
            </a:r>
            <a:endParaRPr lang="zh-CN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700013"/>
            <a:ext cx="8151763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回顧問題：Group 代理鏈</a:t>
            </a:r>
            <a:endParaRPr lang="zh-CN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994916"/>
            <a:ext cx="8151763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 A：ISED-01</a:t>
            </a:r>
            <a:endParaRPr lang="en-US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 B：代理 Group A</a:t>
            </a:r>
            <a:endParaRPr lang="en-US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 C：代理 Group B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96119" y="1424360"/>
            <a:ext cx="86089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判斷「Group C 能不能碰 subnet X」需要複雜的遞迴 SQL</a:t>
            </a:r>
            <a:endParaRPr lang="zh-CN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1614488"/>
            <a:ext cx="8151763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ReBAC 的解法：在 DSL 中定義代理關係</a:t>
            </a:r>
            <a:endParaRPr lang="zh-CN" sz="1350" dirty="0"/>
          </a:p>
        </p:txBody>
      </p:sp>
      <p:sp>
        <p:nvSpPr>
          <p:cNvPr id="7" name="Shape 5"/>
          <p:cNvSpPr/>
          <p:nvPr/>
        </p:nvSpPr>
        <p:spPr>
          <a:xfrm>
            <a:off x="496119" y="1909390"/>
            <a:ext cx="8151763" cy="1692697"/>
          </a:xfrm>
          <a:prstGeom prst="roundRect">
            <a:avLst>
              <a:gd name="adj" fmla="val 765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99777" y="1995711"/>
            <a:ext cx="7944445" cy="152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group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member: [user]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delegate: [group]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can_access: member or delegate-&gt;can_access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subnet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owner: [user, group#member, group#delegate]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can_write: owner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can_read: owner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96119" y="3681040"/>
            <a:ext cx="8151763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核心差異</a:t>
            </a:r>
            <a:endParaRPr lang="zh-CN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4028554"/>
            <a:ext cx="3970511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現有系統：</a:t>
            </a:r>
            <a:endParaRPr lang="zh-CN" sz="850" dirty="0"/>
          </a:p>
        </p:txBody>
      </p:sp>
      <p:sp>
        <p:nvSpPr>
          <p:cNvPr id="11" name="Text 9"/>
          <p:cNvSpPr/>
          <p:nvPr/>
        </p:nvSpPr>
        <p:spPr>
          <a:xfrm>
            <a:off x="496119" y="4216078"/>
            <a:ext cx="3970511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權限判斷邏輯散落在應用層或複雜 SQL 中</a:t>
            </a:r>
            <a:endParaRPr lang="zh-CN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每次新增代理層級，都要改 SQL 邏輯</a:t>
            </a:r>
            <a:endParaRPr lang="zh-CN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難以追蹤權限傳遞路徑</a:t>
            </a:r>
            <a:endParaRPr lang="zh-CN" sz="650" dirty="0"/>
          </a:p>
        </p:txBody>
      </p:sp>
      <p:sp>
        <p:nvSpPr>
          <p:cNvPr id="12" name="Text 10"/>
          <p:cNvSpPr/>
          <p:nvPr/>
        </p:nvSpPr>
        <p:spPr>
          <a:xfrm>
            <a:off x="4682133" y="4028554"/>
            <a:ext cx="3970511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ReBAC：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82133" y="4216078"/>
            <a:ext cx="3970511" cy="499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代理關係在 DSL 中明確定義</a:t>
            </a:r>
            <a:endParaRPr lang="zh-CN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引擎自動遞迴展開：Group C → Group B → Group A → subnet</a:t>
            </a:r>
            <a:endParaRPr lang="zh-CN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新增代理層級時，DSL 不變，引擎自動處理</a:t>
            </a:r>
            <a:endParaRPr lang="zh-CN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zh-CN" alt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權限判斷邏輯集中、可審計、易維護</a:t>
            </a:r>
            <a:endParaRPr lang="zh-CN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558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誠實的取捨與下一步</a:t>
            </a:r>
            <a:endParaRPr lang="zh-CN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051173"/>
            <a:ext cx="4722763" cy="793775"/>
          </a:xfrm>
          <a:prstGeom prst="roundRect">
            <a:avLst>
              <a:gd name="adj" fmla="val 26790"/>
            </a:avLst>
          </a:prstGeom>
          <a:solidFill>
            <a:srgbClr val="CDEFF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77" y="1251942"/>
            <a:ext cx="177180" cy="1417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5816" y="1228353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不是說原本用 group 當中間層的設計是錯的——部門對 subnet 的情境，group 仍然是最自然的表達方式。</a:t>
            </a:r>
            <a:endParaRPr lang="zh-CN" sz="1100" dirty="0"/>
          </a:p>
        </p:txBody>
      </p:sp>
      <p:sp>
        <p:nvSpPr>
          <p:cNvPr id="7" name="Shape 3"/>
          <p:cNvSpPr/>
          <p:nvPr/>
        </p:nvSpPr>
        <p:spPr>
          <a:xfrm>
            <a:off x="3925119" y="2004417"/>
            <a:ext cx="4722763" cy="1643211"/>
          </a:xfrm>
          <a:prstGeom prst="roundRect">
            <a:avLst>
              <a:gd name="adj" fmla="val 1294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929881" y="2009180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177209" y="0"/>
                </a:moveTo>
                <a:lnTo>
                  <a:pt x="4536029" y="0"/>
                </a:lnTo>
                <a:arcTo hR="177209" wR="177209" stAng="16200000" swAng="5400000"/>
                <a:lnTo>
                  <a:pt x="4713238" y="816843"/>
                </a:lnTo>
                <a:lnTo>
                  <a:pt x="0" y="816843"/>
                </a:lnTo>
                <a:lnTo>
                  <a:pt x="0" y="177209"/>
                </a:lnTo>
                <a:arcTo hR="177209" wR="177209" stAng="10800000" swAng="5400000"/>
                <a:close/>
              </a:path>
            </a:pathLst>
          </a:custGeom>
          <a:solidFill>
            <a:srgbClr val="E6F7FF"/>
          </a:solidFill>
          <a:ln/>
        </p:spPr>
      </p:sp>
      <p:sp>
        <p:nvSpPr>
          <p:cNvPr id="9" name="Text 5"/>
          <p:cNvSpPr/>
          <p:nvPr/>
        </p:nvSpPr>
        <p:spPr>
          <a:xfrm>
            <a:off x="4071640" y="2150938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現在的架構</a:t>
            </a:r>
            <a:endParaRPr lang="zh-CN" sz="1350" dirty="0"/>
          </a:p>
        </p:txBody>
      </p:sp>
      <p:sp>
        <p:nvSpPr>
          <p:cNvPr id="10" name="Text 6"/>
          <p:cNvSpPr/>
          <p:nvPr/>
        </p:nvSpPr>
        <p:spPr>
          <a:xfrm>
            <a:off x="4071640" y="2457450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「一定要透過 group」是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唯一選項</a:t>
            </a:r>
            <a:endParaRPr lang="zh-CN" sz="1100" dirty="0"/>
          </a:p>
        </p:txBody>
      </p:sp>
      <p:sp>
        <p:nvSpPr>
          <p:cNvPr id="11" name="Shape 7"/>
          <p:cNvSpPr/>
          <p:nvPr/>
        </p:nvSpPr>
        <p:spPr>
          <a:xfrm>
            <a:off x="3929881" y="2826023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0" y="0"/>
                </a:moveTo>
                <a:lnTo>
                  <a:pt x="4713238" y="0"/>
                </a:lnTo>
                <a:lnTo>
                  <a:pt x="4713238" y="639634"/>
                </a:lnTo>
                <a:arcTo hR="177209" wR="177209" stAng="0" swAng="5400000"/>
                <a:lnTo>
                  <a:pt x="177209" y="816843"/>
                </a:lnTo>
                <a:arcTo hR="177209" wR="177209" stAng="5400000" swAng="5400000"/>
                <a:lnTo>
                  <a:pt x="0" y="0"/>
                </a:lnTo>
                <a:close/>
              </a:path>
            </a:pathLst>
          </a:custGeom>
          <a:solidFill>
            <a:srgbClr val="E6F7FF"/>
          </a:solidFill>
          <a:ln/>
        </p:spPr>
      </p:sp>
      <p:sp>
        <p:nvSpPr>
          <p:cNvPr id="12" name="Shape 8"/>
          <p:cNvSpPr/>
          <p:nvPr/>
        </p:nvSpPr>
        <p:spPr>
          <a:xfrm>
            <a:off x="3929881" y="2826023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B3D5E4"/>
          </a:solidFill>
          <a:ln/>
        </p:spPr>
      </p:sp>
      <p:sp>
        <p:nvSpPr>
          <p:cNvPr id="13" name="Text 9"/>
          <p:cNvSpPr/>
          <p:nvPr/>
        </p:nvSpPr>
        <p:spPr>
          <a:xfrm>
            <a:off x="4071640" y="2967782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ReBAC 架構</a:t>
            </a:r>
            <a:endParaRPr lang="zh-CN" sz="1350" dirty="0"/>
          </a:p>
        </p:txBody>
      </p:sp>
      <p:sp>
        <p:nvSpPr>
          <p:cNvPr id="14" name="Text 10"/>
          <p:cNvSpPr/>
          <p:nvPr/>
        </p:nvSpPr>
        <p:spPr>
          <a:xfrm>
            <a:off x="4071640" y="327429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「透過 group」變成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兩個選項之一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，多了直接授權給單一 user 的路</a:t>
            </a:r>
            <a:endParaRPr lang="zh-CN" sz="1100" dirty="0"/>
          </a:p>
        </p:txBody>
      </p:sp>
      <p:sp>
        <p:nvSpPr>
          <p:cNvPr id="15" name="Text 11"/>
          <p:cNvSpPr/>
          <p:nvPr/>
        </p:nvSpPr>
        <p:spPr>
          <a:xfrm>
            <a:off x="3925119" y="3860229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下一步計畫</a:t>
            </a:r>
            <a:endParaRPr lang="zh-CN" sz="1350" dirty="0"/>
          </a:p>
        </p:txBody>
      </p:sp>
      <p:sp>
        <p:nvSpPr>
          <p:cNvPr id="16" name="Text 12"/>
          <p:cNvSpPr/>
          <p:nvPr/>
        </p:nvSpPr>
        <p:spPr>
          <a:xfrm>
            <a:off x="3925119" y="429428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先不動正式流量，拿 OpenFGA 與現有邏輯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平行跑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，比對兩邊判斷結果，確認可行再考慮正式導入。</a:t>
            </a:r>
            <a:endParaRPr lang="zh-CN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2026-08-02T13:04:50Z</dcterms:created>
  <dcterms:modified xsi:type="dcterms:W3CDTF">2026-08-02T13:04:50Z</dcterms:modified>
</cp:coreProperties>
</file>